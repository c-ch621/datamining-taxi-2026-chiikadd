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  <p:sldMasterId id="2147483659" r:id="rId4"/>
    <p:sldMasterId id="2147483662" r:id="rId5"/>
    <p:sldMasterId id="2147483665" r:id="rId6"/>
    <p:sldMasterId id="2147483668" r:id="rId7"/>
    <p:sldMasterId id="2147483670" r:id="rId8"/>
    <p:sldMasterId id="2147483673" r:id="rId9"/>
    <p:sldMasterId id="2147483675" r:id="rId10"/>
    <p:sldMasterId id="2147483678" r:id="rId11"/>
    <p:sldMasterId id="2147483680" r:id="rId12"/>
    <p:sldMasterId id="2147483683" r:id="rId13"/>
    <p:sldMasterId id="2147483686" r:id="rId14"/>
    <p:sldMasterId id="2147483688" r:id="rId15"/>
    <p:sldMasterId id="2147483690" r:id="rId16"/>
    <p:sldMasterId id="2147483693" r:id="rId17"/>
    <p:sldMasterId id="2147483698" r:id="rId18"/>
    <p:sldMasterId id="2147483700" r:id="rId19"/>
  </p:sldMasterIdLst>
  <p:notesMasterIdLst>
    <p:notesMasterId r:id="rId21"/>
  </p:notesMasterIdLst>
  <p:sldIdLst>
    <p:sldId id="3293" r:id="rId20"/>
    <p:sldId id="3295" r:id="rId22"/>
    <p:sldId id="3296" r:id="rId23"/>
    <p:sldId id="3300" r:id="rId24"/>
    <p:sldId id="3297" r:id="rId25"/>
    <p:sldId id="3301" r:id="rId26"/>
    <p:sldId id="3302" r:id="rId27"/>
    <p:sldId id="3304" r:id="rId28"/>
    <p:sldId id="3305" r:id="rId29"/>
    <p:sldId id="3298" r:id="rId30"/>
    <p:sldId id="3288" r:id="rId31"/>
    <p:sldId id="3290" r:id="rId32"/>
    <p:sldId id="3292" r:id="rId33"/>
    <p:sldId id="3306" r:id="rId34"/>
    <p:sldId id="3299" r:id="rId35"/>
    <p:sldId id="3307" r:id="rId36"/>
    <p:sldId id="3308" r:id="rId37"/>
    <p:sldId id="3309" r:id="rId38"/>
    <p:sldId id="3312" r:id="rId39"/>
    <p:sldId id="3310" r:id="rId40"/>
    <p:sldId id="3311" r:id="rId41"/>
    <p:sldId id="3313" r:id="rId47"/>
  </p:sldIdLst>
  <p:sldSz cx="12192000" cy="6858000"/>
  <p:notesSz cx="6858000" cy="9144000"/>
  <p:custDataLst>
    <p:tags r:id="rId4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目录样式2-1" id="{B0C1D730-BB3A-47ED-8699-2AA84B8F9723}">
          <p14:sldIdLst>
            <p14:sldId id="3293"/>
            <p14:sldId id="3295"/>
            <p14:sldId id="3296"/>
            <p14:sldId id="3300"/>
            <p14:sldId id="3297"/>
            <p14:sldId id="3301"/>
            <p14:sldId id="3302"/>
            <p14:sldId id="3304"/>
            <p14:sldId id="3305"/>
            <p14:sldId id="3298"/>
            <p14:sldId id="3288"/>
            <p14:sldId id="3290"/>
            <p14:sldId id="3292"/>
            <p14:sldId id="3306"/>
            <p14:sldId id="3299"/>
            <p14:sldId id="3307"/>
            <p14:sldId id="3308"/>
            <p14:sldId id="3309"/>
            <p14:sldId id="3312"/>
            <p14:sldId id="3310"/>
            <p14:sldId id="3311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y_Xu" initials="R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C39"/>
    <a:srgbClr val="A13F0B"/>
    <a:srgbClr val="007E42"/>
    <a:srgbClr val="008646"/>
    <a:srgbClr val="006434"/>
    <a:srgbClr val="8E0309"/>
    <a:srgbClr val="194326"/>
    <a:srgbClr val="FFFFFF"/>
    <a:srgbClr val="E7D7B7"/>
    <a:srgbClr val="D5B9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CD60630-E488-4D87-8E62-156206760F31}" styleName="表样式 1">
    <a:wholeTbl>
      <a:tcTxStyle>
        <a:fontRef idx="none">
          <a:schemeClr val="tx1"/>
        </a:fontRef>
      </a:tcTxStyle>
      <a:tcStyle>
        <a:tcBdr/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CBCBCB">
              <a:alpha val="25000"/>
            </a:srgbClr>
          </a:solidFill>
        </a:fill>
      </a:tcStyle>
    </a:band2H>
    <a:band1V>
      <a:tcStyle>
        <a:tcBdr/>
        <a:fill>
          <a:solidFill>
            <a:srgbClr val="CBCBCB">
              <a:alpha val="25000"/>
            </a:srgbClr>
          </a:solidFill>
        </a:fill>
      </a:tcStyle>
    </a:band1V>
    <a:lastCol>
      <a:tcTxStyle b="on">
        <a:fontRef idx="none">
          <a:schemeClr val="accent1"/>
        </a:fontRef>
      </a:tcTxStyle>
      <a:tcStyle>
        <a:tcBdr/>
        <a:fill>
          <a:solidFill>
            <a:srgbClr val="CBCBCB">
              <a:alpha val="40000"/>
            </a:srgbClr>
          </a:solidFill>
        </a:fill>
      </a:tcStyle>
    </a:lastCol>
    <a:firstCol>
      <a:tcTxStyle b="on">
        <a:fontRef idx="none">
          <a:schemeClr val="accent1"/>
        </a:fontRef>
      </a:tcTxStyle>
      <a:tcStyle>
        <a:tcBdr/>
        <a:fill>
          <a:solidFill>
            <a:srgbClr val="CBCBCB">
              <a:alpha val="40000"/>
            </a:srgb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70" autoAdjust="0"/>
    <p:restoredTop sz="94660"/>
  </p:normalViewPr>
  <p:slideViewPr>
    <p:cSldViewPr snapToGrid="0">
      <p:cViewPr varScale="1">
        <p:scale>
          <a:sx n="82" d="100"/>
          <a:sy n="82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972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6" Type="http://schemas.openxmlformats.org/officeDocument/2006/relationships/tags" Target="tags/tag85.xml"/><Relationship Id="rId45" Type="http://schemas.openxmlformats.org/officeDocument/2006/relationships/commentAuthors" Target="commentAuthors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21.xml"/><Relationship Id="rId40" Type="http://schemas.openxmlformats.org/officeDocument/2006/relationships/slide" Target="slides/slide20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9.xml"/><Relationship Id="rId38" Type="http://schemas.openxmlformats.org/officeDocument/2006/relationships/slide" Target="slides/slide18.xml"/><Relationship Id="rId37" Type="http://schemas.openxmlformats.org/officeDocument/2006/relationships/slide" Target="slides/slide17.xml"/><Relationship Id="rId36" Type="http://schemas.openxmlformats.org/officeDocument/2006/relationships/slide" Target="slides/slide16.xml"/><Relationship Id="rId35" Type="http://schemas.openxmlformats.org/officeDocument/2006/relationships/slide" Target="slides/slide15.xml"/><Relationship Id="rId34" Type="http://schemas.openxmlformats.org/officeDocument/2006/relationships/slide" Target="slides/slide14.xml"/><Relationship Id="rId33" Type="http://schemas.openxmlformats.org/officeDocument/2006/relationships/slide" Target="slides/slide13.xml"/><Relationship Id="rId32" Type="http://schemas.openxmlformats.org/officeDocument/2006/relationships/slide" Target="slides/slide12.xml"/><Relationship Id="rId31" Type="http://schemas.openxmlformats.org/officeDocument/2006/relationships/slide" Target="slides/slide11.xml"/><Relationship Id="rId30" Type="http://schemas.openxmlformats.org/officeDocument/2006/relationships/slide" Target="slides/slide10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9.xml"/><Relationship Id="rId28" Type="http://schemas.openxmlformats.org/officeDocument/2006/relationships/slide" Target="slides/slide8.xml"/><Relationship Id="rId27" Type="http://schemas.openxmlformats.org/officeDocument/2006/relationships/slide" Target="slides/slide7.xml"/><Relationship Id="rId26" Type="http://schemas.openxmlformats.org/officeDocument/2006/relationships/slide" Target="slides/slide6.xml"/><Relationship Id="rId25" Type="http://schemas.openxmlformats.org/officeDocument/2006/relationships/slide" Target="slides/slide5.xml"/><Relationship Id="rId24" Type="http://schemas.openxmlformats.org/officeDocument/2006/relationships/slide" Target="slides/slide4.xml"/><Relationship Id="rId23" Type="http://schemas.openxmlformats.org/officeDocument/2006/relationships/slide" Target="slides/slide3.xml"/><Relationship Id="rId22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Relationship Id="rId47" Type="http://schemas.openxmlformats.org/officeDocument/2006/relationships/slide" Target="slides/slide2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76123E4-4C7F-4FE4-BE3C-67F6514FFE8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 xml:space="preserve">规则冲突	检查负车费、时间差超过5分钟、异常单位里程费用、速度低于1或高于80 </a:t>
            </a:r>
            <a:r>
              <a:rPr lang="en-US" altLang="zh-CN"/>
              <a:t>mph、</a:t>
            </a:r>
            <a:r>
              <a:rPr lang="zh-CN" altLang="en-US"/>
              <a:t>车费明显低于司机收入</a:t>
            </a:r>
            <a:endParaRPr lang="zh-CN" altLang="en-US"/>
          </a:p>
          <a:p>
            <a:r>
              <a:rPr lang="zh-CN" altLang="en-US"/>
              <a:t>弱监督不一致	分别根据里程、时长和司机收入估算车费；取三种估价的中位数，与真实车费比较。</a:t>
            </a:r>
            <a:r>
              <a:rPr lang="en-US" altLang="zh-CN"/>
              <a:t xml:space="preserve"> </a:t>
            </a:r>
            <a:r>
              <a:rPr lang="zh-CN" altLang="en-US"/>
              <a:t xml:space="preserve">当真实车费与弱监督估价的偏差超过 4.5倍 </a:t>
            </a:r>
            <a:r>
              <a:rPr lang="en-US" altLang="zh-CN"/>
              <a:t xml:space="preserve">MAD </a:t>
            </a:r>
            <a:r>
              <a:rPr lang="zh-CN" altLang="en-US"/>
              <a:t>时，标记为弱监督不一致。</a:t>
            </a:r>
            <a:r>
              <a:rPr lang="en-US" altLang="zh-CN"/>
              <a:t xml:space="preserve"> </a:t>
            </a:r>
            <a:r>
              <a:rPr lang="zh-CN" altLang="en-US"/>
              <a:t>但并不一定是真的有异常，而是关系比较复杂，说明这些内容更难以预测</a:t>
            </a:r>
            <a:r>
              <a:rPr lang="zh-CN" altLang="en-US"/>
              <a:t>一些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7.xml.rels><?xml version="1.0" encoding="UTF-8"?><Relationships xmlns="http://schemas.openxmlformats.org/package/2006/relationships"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2.xml"/></Relationships>
</file>

<file path=ppt/slideLayouts/_rels/slideLayout8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9.xml.rels><?xml version="1.0" encoding="UTF-8"?>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13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14.xml.rels><?xml version="1.0" encoding="UTF-8"?><Relationships xmlns="http://schemas.openxmlformats.org/package/2006/relationships"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5.xml.rels><?xml version="1.0" encoding="UTF-8"?><Relationships xmlns="http://schemas.openxmlformats.org/package/2006/relationships"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5.xml"/></Relationships>
</file>

<file path=ppt/slideLayouts/_rels/slideLayout16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18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19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/Relationships>
</file>

<file path=ppt/slideLayouts/_rels/slideLayout20.xml.rels><?xml version="1.0" encoding="UTF-8"?><Relationships xmlns="http://schemas.openxmlformats.org/package/2006/relationships"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9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.xml.rels><?xml version="1.0" encoding="UTF-8"?>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0.xml"/></Relationships>
</file>

<file path=ppt/slideLayouts/_rels/slideLayout23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1.xml"/></Relationships>
</file>

<file path=ppt/slideLayouts/_rels/slideLayout24.xml.rels><?xml version="1.0" encoding="UTF-8"?><Relationships xmlns="http://schemas.openxmlformats.org/package/2006/relationships"><Relationship Id="rId4" Type="http://schemas.openxmlformats.org/officeDocument/2006/relationships/image" Target="../media/image29.png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1.xml"/></Relationships>
</file>

<file path=ppt/slideLayouts/_rels/slideLayout25.xml.rels><?xml version="1.0" encoding="UTF-8"?>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2.xml"/></Relationships>
</file>

<file path=ppt/slideLayouts/_rels/slideLayout26.xml.rels><?xml version="1.0" encoding="UTF-8"?>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27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3.xml"/></Relationships>
</file>

<file path=ppt/slideLayouts/_rels/slideLayout28.xml.rels><?xml version="1.0" encoding="UTF-8"?><Relationships xmlns="http://schemas.openxmlformats.org/package/2006/relationships"><Relationship Id="rId4" Type="http://schemas.openxmlformats.org/officeDocument/2006/relationships/image" Target="../media/image16.png"/><Relationship Id="rId3" Type="http://schemas.openxmlformats.org/officeDocument/2006/relationships/image" Target="../media/image28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4.xml"/></Relationships>
</file>

<file path=ppt/slideLayouts/_rels/slideLayout29.xml.rels><?xml version="1.0" encoding="UTF-8"?><Relationships xmlns="http://schemas.openxmlformats.org/package/2006/relationships"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5.xml"/></Relationships>
</file>

<file path=ppt/slideLayouts/_rels/slideLayout30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5.xml"/></Relationships>
</file>

<file path=ppt/slideLayouts/_rels/slideLayout31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6.xml"/></Relationships>
</file>

<file path=ppt/slideLayouts/_rels/slideLayout32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6.xml"/></Relationships>
</file>

<file path=ppt/slideLayouts/_rels/slideLayout33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6.xml"/></Relationships>
</file>

<file path=ppt/slideLayouts/_rels/slideLayout34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6.xml"/></Relationships>
</file>

<file path=ppt/slideLayouts/_rels/slideLayout35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7.xml"/></Relationships>
</file>

<file path=ppt/slideLayouts/_rels/slideLayout36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8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39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1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42.xml.rels><?xml version="1.0" encoding="UTF-8"?>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8.xml"/></Relationships>
</file>

<file path=ppt/slideLayouts/_rels/slideLayout4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8.xml"/></Relationships>
</file>

<file path=ppt/slideLayouts/_rels/slideLayout45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?>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8.xml"/></Relationships>
</file>

<file path=ppt/slideLayouts/_rels/slideLayout47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4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9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50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5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2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53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5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5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56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8.xml"/></Relationships>
</file>

<file path=ppt/slideLayouts/_rels/slideLayout5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8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8.xml"/></Relationships>
</file>

<file path=ppt/slideLayouts/_rels/slideLayout5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8.xml"/></Relationships>
</file>

<file path=ppt/slideLayouts/_rels/slideLayout62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697615" y="4908366"/>
            <a:ext cx="7059690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INSTITUTE OF TECHNOLOGY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 userDrawn="1"/>
        </p:nvGrpSpPr>
        <p:grpSpPr>
          <a:xfrm>
            <a:off x="566553" y="2031917"/>
            <a:ext cx="1778298" cy="3243219"/>
            <a:chOff x="611818" y="2031917"/>
            <a:chExt cx="1709547" cy="3117834"/>
          </a:xfrm>
        </p:grpSpPr>
        <p:grpSp>
          <p:nvGrpSpPr>
            <p:cNvPr id="70" name="组合 69"/>
            <p:cNvGrpSpPr/>
            <p:nvPr/>
          </p:nvGrpSpPr>
          <p:grpSpPr>
            <a:xfrm>
              <a:off x="611818" y="2051403"/>
              <a:ext cx="567014" cy="3098348"/>
              <a:chOff x="11305242" y="2003776"/>
              <a:chExt cx="354194" cy="1935432"/>
            </a:xfrm>
            <a:solidFill>
              <a:schemeClr val="bg1">
                <a:alpha val="5000"/>
              </a:schemeClr>
            </a:solidFill>
          </p:grpSpPr>
          <p:sp>
            <p:nvSpPr>
              <p:cNvPr id="85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Freeform 6"/>
              <p:cNvSpPr/>
              <p:nvPr/>
            </p:nvSpPr>
            <p:spPr bwMode="auto">
              <a:xfrm>
                <a:off x="11382341" y="3639427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7" name="组合 86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92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3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8" name="组合 87"/>
              <p:cNvGrpSpPr/>
              <p:nvPr/>
            </p:nvGrpSpPr>
            <p:grpSpPr>
              <a:xfrm>
                <a:off x="11380191" y="2640087"/>
                <a:ext cx="214274" cy="229664"/>
                <a:chOff x="3792874" y="3156423"/>
                <a:chExt cx="331330" cy="355128"/>
              </a:xfrm>
              <a:grpFill/>
            </p:grpSpPr>
            <p:sp>
              <p:nvSpPr>
                <p:cNvPr id="89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0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1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71" name="组合 70"/>
            <p:cNvGrpSpPr/>
            <p:nvPr userDrawn="1"/>
          </p:nvGrpSpPr>
          <p:grpSpPr>
            <a:xfrm>
              <a:off x="1752713" y="2031917"/>
              <a:ext cx="568652" cy="3091276"/>
              <a:chOff x="1752714" y="2031919"/>
              <a:chExt cx="568653" cy="3091274"/>
            </a:xfrm>
          </p:grpSpPr>
          <p:grpSp>
            <p:nvGrpSpPr>
              <p:cNvPr id="72" name="组合 71"/>
              <p:cNvGrpSpPr/>
              <p:nvPr/>
            </p:nvGrpSpPr>
            <p:grpSpPr>
              <a:xfrm>
                <a:off x="1769227" y="3776579"/>
                <a:ext cx="501270" cy="527572"/>
                <a:chOff x="6113463" y="3541713"/>
                <a:chExt cx="484188" cy="50958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3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4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/>
              <p:cNvGrpSpPr/>
              <p:nvPr/>
            </p:nvGrpSpPr>
            <p:grpSpPr>
              <a:xfrm>
                <a:off x="1752714" y="2031919"/>
                <a:ext cx="568653" cy="718220"/>
                <a:chOff x="6108700" y="2066926"/>
                <a:chExt cx="549275" cy="69373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1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2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4" name="组合 73"/>
              <p:cNvGrpSpPr/>
              <p:nvPr/>
            </p:nvGrpSpPr>
            <p:grpSpPr>
              <a:xfrm>
                <a:off x="1855433" y="3075554"/>
                <a:ext cx="381292" cy="328704"/>
                <a:chOff x="6186488" y="2930526"/>
                <a:chExt cx="368300" cy="317500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8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0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5" name="组合 74"/>
              <p:cNvGrpSpPr/>
              <p:nvPr/>
            </p:nvGrpSpPr>
            <p:grpSpPr>
              <a:xfrm>
                <a:off x="1804180" y="4681015"/>
                <a:ext cx="442058" cy="442178"/>
                <a:chOff x="11893476" y="1994536"/>
                <a:chExt cx="277932" cy="278006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6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5308" cy="27343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12"/>
                <p:cNvSpPr/>
                <p:nvPr/>
              </p:nvSpPr>
              <p:spPr bwMode="auto">
                <a:xfrm>
                  <a:off x="11893476" y="2009127"/>
                  <a:ext cx="105167" cy="263415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44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697616" y="1658264"/>
            <a:ext cx="7059689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  <a:endParaRPr lang="zh-CN" alt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87430" y="1483539"/>
            <a:ext cx="7373912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文本框 40"/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INSTITUTE OF TECHNOLOGY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 userDrawn="1"/>
        </p:nvGrpSpPr>
        <p:grpSpPr>
          <a:xfrm>
            <a:off x="9834169" y="2044937"/>
            <a:ext cx="1778296" cy="3249639"/>
            <a:chOff x="611819" y="2031917"/>
            <a:chExt cx="1709546" cy="3124006"/>
          </a:xfrm>
        </p:grpSpPr>
        <p:grpSp>
          <p:nvGrpSpPr>
            <p:cNvPr id="46" name="组合 45"/>
            <p:cNvGrpSpPr/>
            <p:nvPr/>
          </p:nvGrpSpPr>
          <p:grpSpPr>
            <a:xfrm>
              <a:off x="611819" y="2051403"/>
              <a:ext cx="567014" cy="3098349"/>
              <a:chOff x="11305242" y="2003776"/>
              <a:chExt cx="354194" cy="1935432"/>
            </a:xfrm>
            <a:solidFill>
              <a:schemeClr val="bg1">
                <a:alpha val="5000"/>
              </a:schemeClr>
            </a:solidFill>
          </p:grpSpPr>
          <p:sp>
            <p:nvSpPr>
              <p:cNvPr id="61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" name="Freeform 6"/>
              <p:cNvSpPr/>
              <p:nvPr/>
            </p:nvSpPr>
            <p:spPr bwMode="auto">
              <a:xfrm>
                <a:off x="11382341" y="3639427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63" name="组合 62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6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4" name="组合 63"/>
              <p:cNvGrpSpPr/>
              <p:nvPr/>
            </p:nvGrpSpPr>
            <p:grpSpPr>
              <a:xfrm>
                <a:off x="11380191" y="2640087"/>
                <a:ext cx="214274" cy="229664"/>
                <a:chOff x="3792874" y="3156423"/>
                <a:chExt cx="331330" cy="355128"/>
              </a:xfrm>
              <a:grpFill/>
            </p:grpSpPr>
            <p:sp>
              <p:nvSpPr>
                <p:cNvPr id="65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6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7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47" name="组合 46"/>
            <p:cNvGrpSpPr/>
            <p:nvPr userDrawn="1"/>
          </p:nvGrpSpPr>
          <p:grpSpPr>
            <a:xfrm>
              <a:off x="1752713" y="2031917"/>
              <a:ext cx="568652" cy="3124006"/>
              <a:chOff x="1752713" y="2031917"/>
              <a:chExt cx="568652" cy="3124006"/>
            </a:xfrm>
          </p:grpSpPr>
          <p:grpSp>
            <p:nvGrpSpPr>
              <p:cNvPr id="48" name="组合 47"/>
              <p:cNvGrpSpPr/>
              <p:nvPr/>
            </p:nvGrpSpPr>
            <p:grpSpPr>
              <a:xfrm>
                <a:off x="1769224" y="3776575"/>
                <a:ext cx="501269" cy="527571"/>
                <a:chOff x="6113463" y="3541713"/>
                <a:chExt cx="484188" cy="50958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1752713" y="2031917"/>
                <a:ext cx="568652" cy="718219"/>
                <a:chOff x="6108700" y="2066926"/>
                <a:chExt cx="549275" cy="69373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855431" y="3075552"/>
                <a:ext cx="381292" cy="328704"/>
                <a:chOff x="6186488" y="2930526"/>
                <a:chExt cx="368300" cy="317500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>
                <a:off x="1804145" y="4681015"/>
                <a:ext cx="466327" cy="474908"/>
                <a:chOff x="11893475" y="1994536"/>
                <a:chExt cx="293191" cy="298584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2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210566" cy="294792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3" name="Freeform 12"/>
                <p:cNvSpPr/>
                <p:nvPr/>
              </p:nvSpPr>
              <p:spPr bwMode="auto">
                <a:xfrm>
                  <a:off x="11893475" y="2009126"/>
                  <a:ext cx="113382" cy="283994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70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87429" y="4461296"/>
            <a:ext cx="7373913" cy="119983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答辩人：北小理</a:t>
            </a:r>
            <a:endParaRPr lang="en-US" altLang="zh-CN" dirty="0"/>
          </a:p>
          <a:p>
            <a:pPr lvl="0"/>
            <a:r>
              <a:rPr lang="zh-CN" altLang="en-US" dirty="0"/>
              <a:t>导　师：京小工</a:t>
            </a:r>
            <a:endParaRPr lang="en-US" altLang="zh-CN" dirty="0"/>
          </a:p>
          <a:p>
            <a:pPr lvl="0"/>
            <a:r>
              <a:rPr lang="zh-CN" altLang="en-US" dirty="0"/>
              <a:t>时　间：</a:t>
            </a:r>
            <a:fld id="{F6F1CC6F-731D-497C-9A0B-70CB610DC019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sp>
            <p:nvSpPr>
              <p:cNvPr id="78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grpSp>
            <p:nvGrpSpPr>
              <p:cNvPr id="79" name="组合 78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8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82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83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7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7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66" name="组合 65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7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7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9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71368" y="2616692"/>
            <a:ext cx="701500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  <a:endParaRPr lang="zh-CN" altLang="en-US" dirty="0"/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71367" y="2352090"/>
            <a:ext cx="5137927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  <a:endParaRPr lang="zh-CN" altLang="en-US" dirty="0"/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71366" y="4094394"/>
            <a:ext cx="6221139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2104863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 xml:space="preserve">◁ BIT </a:t>
            </a:r>
            <a:r>
              <a:rPr kumimoji="0" lang="en-US" altLang="zh-CN" sz="2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▷</a:t>
            </a:r>
            <a:endParaRPr kumimoji="0" lang="zh-CN" altLang="en-US" sz="2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671368" y="6061309"/>
            <a:ext cx="2479573" cy="304965"/>
            <a:chOff x="671368" y="6061309"/>
            <a:chExt cx="2479573" cy="304965"/>
          </a:xfrm>
        </p:grpSpPr>
        <p:grpSp>
          <p:nvGrpSpPr>
            <p:cNvPr id="74" name="组合 7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</p:grpSpPr>
          <p:sp>
            <p:nvSpPr>
              <p:cNvPr id="89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4620305" y="1246611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75" name="组合 7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</p:grpSpPr>
          <p:grpSp>
            <p:nvGrpSpPr>
              <p:cNvPr id="76" name="组合 75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8" name="组合 77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8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9" name="组合 7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80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1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/>
          <p:cNvSpPr/>
          <p:nvPr userDrawn="1">
            <p:custDataLst>
              <p:tags r:id="rId2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43364" y="2558484"/>
            <a:ext cx="6206079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  <a:endParaRPr lang="zh-CN" altLang="en-US" dirty="0"/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  <a:endParaRPr lang="zh-CN" altLang="en-US" dirty="0"/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85030"/>
            <a:ext cx="6229674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" name="任意多边形: 形状 105"/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8" name="任意多边形: 形状 117"/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1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8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  <a:endParaRPr lang="zh-CN" altLang="en-US" dirty="0"/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141362" y="5528219"/>
            <a:ext cx="7909277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BIT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 xml:space="preserve"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 xml:space="preserve"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SINCE 1940</a:t>
            </a: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0272478" y="6308389"/>
            <a:ext cx="1629576" cy="198576"/>
            <a:chOff x="10272478" y="6308389"/>
            <a:chExt cx="1629576" cy="198576"/>
          </a:xfrm>
        </p:grpSpPr>
        <p:grpSp>
          <p:nvGrpSpPr>
            <p:cNvPr id="40" name="组合 39"/>
            <p:cNvGrpSpPr/>
            <p:nvPr userDrawn="1"/>
          </p:nvGrpSpPr>
          <p:grpSpPr>
            <a:xfrm>
              <a:off x="11216726" y="6310650"/>
              <a:ext cx="685328" cy="194486"/>
              <a:chOff x="2373567" y="1096524"/>
              <a:chExt cx="2578404" cy="731714"/>
            </a:xfrm>
          </p:grpSpPr>
          <p:sp>
            <p:nvSpPr>
              <p:cNvPr id="7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1" name="Freeform 6"/>
              <p:cNvSpPr/>
              <p:nvPr/>
            </p:nvSpPr>
            <p:spPr bwMode="auto">
              <a:xfrm>
                <a:off x="4620306" y="1237050"/>
                <a:ext cx="331665" cy="499208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72" name="组合 7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7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7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41" name="组合 40"/>
            <p:cNvGrpSpPr/>
            <p:nvPr userDrawn="1"/>
          </p:nvGrpSpPr>
          <p:grpSpPr>
            <a:xfrm>
              <a:off x="10272478" y="6308389"/>
              <a:ext cx="721622" cy="198576"/>
              <a:chOff x="2372715" y="161759"/>
              <a:chExt cx="2714952" cy="747103"/>
            </a:xfrm>
          </p:grpSpPr>
          <p:grpSp>
            <p:nvGrpSpPr>
              <p:cNvPr id="42" name="组合 41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6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6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6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4613354" y="313344"/>
                <a:ext cx="474313" cy="479486"/>
                <a:chOff x="11893474" y="1994534"/>
                <a:chExt cx="286683" cy="289808"/>
              </a:xfrm>
              <a:solidFill>
                <a:schemeClr val="accent3"/>
              </a:solidFill>
            </p:grpSpPr>
            <p:sp>
              <p:nvSpPr>
                <p:cNvPr id="46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4"/>
                  <a:ext cx="204058" cy="285679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7" name="Freeform 12"/>
                <p:cNvSpPr/>
                <p:nvPr/>
              </p:nvSpPr>
              <p:spPr bwMode="auto">
                <a:xfrm>
                  <a:off x="11893474" y="2009126"/>
                  <a:ext cx="109877" cy="275216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/>
          <a:srcRect l="128" r="23340"/>
          <a:stretch>
            <a:fillRect/>
          </a:stretch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64" name="组合 63"/>
          <p:cNvGrpSpPr/>
          <p:nvPr userDrawn="1"/>
        </p:nvGrpSpPr>
        <p:grpSpPr>
          <a:xfrm>
            <a:off x="691959" y="5891503"/>
            <a:ext cx="4041392" cy="497055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65" name="组合 6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8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1" name="Freeform 6"/>
              <p:cNvSpPr/>
              <p:nvPr/>
            </p:nvSpPr>
            <p:spPr bwMode="auto">
              <a:xfrm>
                <a:off x="4620306" y="1240665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2" name="组合 8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3" name="组合 8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66" name="组合 6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7" name="组合 6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8" name="组合 6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9" name="组合 6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7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/>
          <a:srcRect l="15573" r="198"/>
          <a:stretch>
            <a:fillRect/>
          </a:stretch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64" name="组合 63"/>
          <p:cNvGrpSpPr/>
          <p:nvPr userDrawn="1"/>
        </p:nvGrpSpPr>
        <p:grpSpPr>
          <a:xfrm>
            <a:off x="7388034" y="5891503"/>
            <a:ext cx="4041392" cy="497055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65" name="组合 6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8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1" name="Freeform 6"/>
              <p:cNvSpPr/>
              <p:nvPr/>
            </p:nvSpPr>
            <p:spPr bwMode="auto">
              <a:xfrm>
                <a:off x="4620306" y="1240665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2" name="组合 8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3" name="组合 8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66" name="组合 6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7" name="组合 6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8" name="组合 6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9" name="组合 6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7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41" name="组合 40"/>
          <p:cNvGrpSpPr/>
          <p:nvPr userDrawn="1"/>
        </p:nvGrpSpPr>
        <p:grpSpPr>
          <a:xfrm>
            <a:off x="691959" y="5891503"/>
            <a:ext cx="4041392" cy="497055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42" name="组合 4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7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" name="Freeform 6"/>
              <p:cNvSpPr/>
              <p:nvPr/>
            </p:nvSpPr>
            <p:spPr bwMode="auto">
              <a:xfrm>
                <a:off x="4620306" y="1225926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59" name="组合 58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0" name="组合 59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1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2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3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43" name="组合 4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4" name="组合 43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6" name="组合 45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8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9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41" name="组合 40"/>
          <p:cNvGrpSpPr/>
          <p:nvPr userDrawn="1"/>
        </p:nvGrpSpPr>
        <p:grpSpPr>
          <a:xfrm>
            <a:off x="7388034" y="5891503"/>
            <a:ext cx="4041392" cy="497055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42" name="组合 4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7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" name="Freeform 6"/>
              <p:cNvSpPr/>
              <p:nvPr/>
            </p:nvSpPr>
            <p:spPr bwMode="auto">
              <a:xfrm>
                <a:off x="4620306" y="1225926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59" name="组合 58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0" name="组合 59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1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2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3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43" name="组合 4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4" name="组合 43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6" name="组合 45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8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9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66" name="组合 65"/>
          <p:cNvGrpSpPr/>
          <p:nvPr userDrawn="1"/>
        </p:nvGrpSpPr>
        <p:grpSpPr>
          <a:xfrm>
            <a:off x="3040886" y="5672444"/>
            <a:ext cx="6136452" cy="754729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67" name="组合 6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82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3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4" name="组合 83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5" name="组合 84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6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7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68" name="组合 67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8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2" name="组合 71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73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/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BIT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 xml:space="preserve"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 xml:space="preserve"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SINCE 1940</a:t>
            </a: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10272478" y="6396638"/>
            <a:ext cx="1629576" cy="198576"/>
            <a:chOff x="10272478" y="6308389"/>
            <a:chExt cx="1629576" cy="198576"/>
          </a:xfrm>
        </p:grpSpPr>
        <p:grpSp>
          <p:nvGrpSpPr>
            <p:cNvPr id="32" name="组合 31"/>
            <p:cNvGrpSpPr/>
            <p:nvPr userDrawn="1"/>
          </p:nvGrpSpPr>
          <p:grpSpPr>
            <a:xfrm>
              <a:off x="11216726" y="6310650"/>
              <a:ext cx="685328" cy="194486"/>
              <a:chOff x="2373567" y="1096524"/>
              <a:chExt cx="2578404" cy="731714"/>
            </a:xfrm>
          </p:grpSpPr>
          <p:sp>
            <p:nvSpPr>
              <p:cNvPr id="75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Freeform 6"/>
              <p:cNvSpPr/>
              <p:nvPr/>
            </p:nvSpPr>
            <p:spPr bwMode="auto">
              <a:xfrm>
                <a:off x="4620306" y="1229886"/>
                <a:ext cx="331665" cy="499208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77" name="组合 76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82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3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8" name="组合 77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79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0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1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33" name="组合 32"/>
            <p:cNvGrpSpPr/>
            <p:nvPr userDrawn="1"/>
          </p:nvGrpSpPr>
          <p:grpSpPr>
            <a:xfrm>
              <a:off x="10272478" y="6308389"/>
              <a:ext cx="716480" cy="198576"/>
              <a:chOff x="2372715" y="161759"/>
              <a:chExt cx="2695608" cy="747103"/>
            </a:xfrm>
          </p:grpSpPr>
          <p:grpSp>
            <p:nvGrpSpPr>
              <p:cNvPr id="34" name="组合 33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73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71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2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68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9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0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39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0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222990" y="1401505"/>
            <a:ext cx="3746000" cy="104851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453730" y="4619682"/>
            <a:ext cx="3284503" cy="72219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 b="7394"/>
          <a:stretch>
            <a:fillRect/>
          </a:stretch>
        </p:blipFill>
        <p:spPr>
          <a:xfrm>
            <a:off x="-3165" y="0"/>
            <a:ext cx="1219198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0" y="1"/>
            <a:ext cx="12191980" cy="6857994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  <a:lumMod val="85000"/>
                </a:schemeClr>
              </a:gs>
              <a:gs pos="50000">
                <a:schemeClr val="accent1">
                  <a:alpha val="90000"/>
                  <a:lumMod val="85000"/>
                </a:schemeClr>
              </a:gs>
              <a:gs pos="100000">
                <a:schemeClr val="accent1">
                  <a:alpha val="90000"/>
                  <a:lumMod val="8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72100" y="3028371"/>
            <a:ext cx="9041450" cy="911074"/>
          </a:xfrm>
        </p:spPr>
        <p:txBody>
          <a:bodyPr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北京理工大学毕业答辩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767417" y="1018488"/>
            <a:ext cx="4650816" cy="1301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9" name="组合 28"/>
          <p:cNvGrpSpPr/>
          <p:nvPr userDrawn="1"/>
        </p:nvGrpSpPr>
        <p:grpSpPr>
          <a:xfrm>
            <a:off x="2055967" y="1793453"/>
            <a:ext cx="8080066" cy="99377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0" name="组合 29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5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" name="Freeform 6"/>
              <p:cNvSpPr/>
              <p:nvPr/>
            </p:nvSpPr>
            <p:spPr bwMode="auto">
              <a:xfrm>
                <a:off x="4620306" y="1254098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2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3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49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0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1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31" name="组合 30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2" name="组合 31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3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4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1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2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4" name="组合 33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38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9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0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36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7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 t="15558" b="38705"/>
          <a:stretch>
            <a:fillRect/>
          </a:stretch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print"/>
          <a:srcRect l="49471"/>
          <a:stretch>
            <a:fillRect/>
          </a:stretch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print"/>
          <a:srcRect r="49912"/>
          <a:stretch>
            <a:fillRect/>
          </a:stretch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 rot="16200000">
            <a:off x="-1538864" y="2653429"/>
            <a:ext cx="52296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1" i="0" u="none" strike="noStrike" kern="1200" cap="none" spc="5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Contents</a:t>
            </a:r>
            <a:r>
              <a:rPr kumimoji="0" lang="en-US" altLang="zh-CN" sz="4400" b="1" i="0" u="none" strike="noStrike" kern="1200" cap="none" spc="5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■</a:t>
            </a:r>
            <a:endParaRPr kumimoji="0" lang="zh-CN" altLang="en-US" sz="4400" b="1" i="0" u="none" strike="noStrike" kern="1200" cap="none" spc="50" normalizeH="0" baseline="0" noProof="0" dirty="0">
              <a:ln>
                <a:noFill/>
              </a:ln>
              <a:solidFill>
                <a:srgbClr val="A13F0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6549" y="375239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6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结构大纲</a:t>
            </a:r>
            <a:endParaRPr kumimoji="0" lang="zh-CN" altLang="en-US" sz="3600" b="1" i="0" u="none" strike="noStrike" kern="1200" cap="none" spc="600" normalizeH="0" baseline="0" noProof="0" dirty="0">
              <a:ln>
                <a:noFill/>
              </a:ln>
              <a:solidFill>
                <a:srgbClr val="006C39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519824" y="6600901"/>
            <a:ext cx="25234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INSTITUTE OF TECHNOLOGY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041148" y="78493"/>
            <a:ext cx="2025400" cy="566914"/>
          </a:xfrm>
          <a:prstGeom prst="rect">
            <a:avLst/>
          </a:prstGeom>
        </p:spPr>
      </p:pic>
      <p:sp>
        <p:nvSpPr>
          <p:cNvPr id="82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84" name="矩形 83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51" name="组合 50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4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5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1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 r="20215"/>
          <a:stretch>
            <a:fillRect/>
          </a:stretch>
        </p:blipFill>
        <p:spPr>
          <a:xfrm>
            <a:off x="6592525" y="0"/>
            <a:ext cx="5609371" cy="6765696"/>
          </a:xfrm>
          <a:prstGeom prst="rect">
            <a:avLst/>
          </a:prstGeom>
        </p:spPr>
      </p:pic>
      <p:sp>
        <p:nvSpPr>
          <p:cNvPr id="63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65" name="矩形 64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0" name="组合 29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1" name="组合 30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6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48" name="组合 47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3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4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0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1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2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32" name="组合 31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3" name="组合 32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4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5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4" name="组合 33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2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3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39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0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1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37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8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椭圆 88"/>
          <p:cNvSpPr/>
          <p:nvPr userDrawn="1"/>
        </p:nvSpPr>
        <p:spPr>
          <a:xfrm>
            <a:off x="-3816599" y="-1541834"/>
            <a:ext cx="8697505" cy="9941668"/>
          </a:xfrm>
          <a:prstGeom prst="ellipse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8" name="椭圆 87"/>
          <p:cNvSpPr/>
          <p:nvPr userDrawn="1"/>
        </p:nvSpPr>
        <p:spPr>
          <a:xfrm>
            <a:off x="-3999568" y="-1541834"/>
            <a:ext cx="8697505" cy="994166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7" name="图片 86"/>
          <p:cNvPicPr>
            <a:picLocks noChangeAspect="1"/>
          </p:cNvPicPr>
          <p:nvPr userDrawn="1"/>
        </p:nvPicPr>
        <p:blipFill rotWithShape="1">
          <a:blip r:embed="rId2" cstate="print"/>
          <a:srcRect l="18116" t="7030" r="31559" b="11337"/>
          <a:stretch>
            <a:fillRect/>
          </a:stretch>
        </p:blipFill>
        <p:spPr>
          <a:xfrm>
            <a:off x="-1260196" y="1"/>
            <a:ext cx="5919101" cy="6857999"/>
          </a:xfrm>
          <a:custGeom>
            <a:avLst/>
            <a:gdLst>
              <a:gd name="connsiteX0" fmla="*/ 0 w 5919101"/>
              <a:gd name="connsiteY0" fmla="*/ 0 h 6858000"/>
              <a:gd name="connsiteX1" fmla="*/ 4714485 w 5919101"/>
              <a:gd name="connsiteY1" fmla="*/ 0 h 6858000"/>
              <a:gd name="connsiteX2" fmla="*/ 4786974 w 5919101"/>
              <a:gd name="connsiteY2" fmla="*/ 86723 h 6858000"/>
              <a:gd name="connsiteX3" fmla="*/ 5919101 w 5919101"/>
              <a:gd name="connsiteY3" fmla="*/ 3429000 h 6858000"/>
              <a:gd name="connsiteX4" fmla="*/ 4786974 w 5919101"/>
              <a:gd name="connsiteY4" fmla="*/ 6771277 h 6858000"/>
              <a:gd name="connsiteX5" fmla="*/ 4714485 w 5919101"/>
              <a:gd name="connsiteY5" fmla="*/ 6858000 h 6858000"/>
              <a:gd name="connsiteX6" fmla="*/ 0 w 59191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9101" h="6858000">
                <a:moveTo>
                  <a:pt x="0" y="0"/>
                </a:moveTo>
                <a:lnTo>
                  <a:pt x="4714485" y="0"/>
                </a:lnTo>
                <a:lnTo>
                  <a:pt x="4786974" y="86723"/>
                </a:lnTo>
                <a:cubicBezTo>
                  <a:pt x="5490384" y="969480"/>
                  <a:pt x="5919101" y="2142133"/>
                  <a:pt x="5919101" y="3429000"/>
                </a:cubicBezTo>
                <a:cubicBezTo>
                  <a:pt x="5919101" y="4715867"/>
                  <a:pt x="5490384" y="5888521"/>
                  <a:pt x="4786974" y="6771277"/>
                </a:cubicBezTo>
                <a:lnTo>
                  <a:pt x="47144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6" name="椭圆 85"/>
          <p:cNvSpPr/>
          <p:nvPr userDrawn="1"/>
        </p:nvSpPr>
        <p:spPr>
          <a:xfrm>
            <a:off x="-4038600" y="-1541834"/>
            <a:ext cx="8697505" cy="9941668"/>
          </a:xfrm>
          <a:prstGeom prst="ellipse">
            <a:avLst/>
          </a:prstGeom>
          <a:solidFill>
            <a:schemeClr val="accent1">
              <a:alpha val="8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0" name="图片 89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83781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/>
          <a:srcRect r="30571" b="46397"/>
          <a:stretch>
            <a:fillRect/>
          </a:stretch>
        </p:blipFill>
        <p:spPr>
          <a:xfrm>
            <a:off x="9019185" y="4400550"/>
            <a:ext cx="3194586" cy="246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4398806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print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71956" y="4398806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sp>
        <p:nvSpPr>
          <p:cNvPr id="18" name="矩形: 圆角 162"/>
          <p:cNvSpPr/>
          <p:nvPr userDrawn="1"/>
        </p:nvSpPr>
        <p:spPr>
          <a:xfrm>
            <a:off x="1664486" y="3107981"/>
            <a:ext cx="8945408" cy="3014890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63"/>
          <p:cNvSpPr/>
          <p:nvPr userDrawn="1"/>
        </p:nvSpPr>
        <p:spPr>
          <a:xfrm>
            <a:off x="1463942" y="3222979"/>
            <a:ext cx="9346497" cy="2899892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94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: 圆角 164"/>
          <p:cNvSpPr/>
          <p:nvPr userDrawn="1"/>
        </p:nvSpPr>
        <p:spPr>
          <a:xfrm>
            <a:off x="1200150" y="3365257"/>
            <a:ext cx="9791700" cy="2757614"/>
          </a:xfrm>
          <a:prstGeom prst="roundRect">
            <a:avLst>
              <a:gd name="adj" fmla="val 3205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F8F8F8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sysClr val="window" lastClr="FFFFFF">
                <a:lumMod val="7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<a:noAutofit/>
          </a:bodyPr>
          <a:lstStyle/>
          <a:p>
            <a:pPr marL="0" marR="0" lvl="0" indent="4572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/>
          <a:srcRect l="29063" r="32938"/>
          <a:stretch>
            <a:fillRect/>
          </a:stretch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/>
          <p:cNvCxnSpPr/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 userDrawn="1"/>
        </p:nvSpPr>
        <p:spPr>
          <a:xfrm>
            <a:off x="846867" y="2752385"/>
            <a:ext cx="21362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  <a:endParaRPr kumimoji="0" lang="zh-CN" altLang="en-US" sz="5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CONTENTS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print"/>
          <a:srcRect r="15912" b="16285"/>
          <a:stretch>
            <a:fillRect/>
          </a:stretch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  <a:endParaRPr lang="zh-CN" altLang="en-US" dirty="0"/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  <a:endParaRPr lang="zh-CN" altLang="en-US" dirty="0"/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  <p:grpSp>
        <p:nvGrpSpPr>
          <p:cNvPr id="85" name="组合 84"/>
          <p:cNvGrpSpPr/>
          <p:nvPr userDrawn="1"/>
        </p:nvGrpSpPr>
        <p:grpSpPr>
          <a:xfrm>
            <a:off x="694004" y="6394741"/>
            <a:ext cx="1931864" cy="235412"/>
            <a:chOff x="10272478" y="6308389"/>
            <a:chExt cx="1629576" cy="198576"/>
          </a:xfrm>
        </p:grpSpPr>
        <p:grpSp>
          <p:nvGrpSpPr>
            <p:cNvPr id="86" name="组合 85"/>
            <p:cNvGrpSpPr/>
            <p:nvPr userDrawn="1"/>
          </p:nvGrpSpPr>
          <p:grpSpPr>
            <a:xfrm>
              <a:off x="11216726" y="6310650"/>
              <a:ext cx="685328" cy="194486"/>
              <a:chOff x="2373567" y="1096524"/>
              <a:chExt cx="2578404" cy="731714"/>
            </a:xfrm>
          </p:grpSpPr>
          <p:sp>
            <p:nvSpPr>
              <p:cNvPr id="101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2" name="Freeform 6"/>
              <p:cNvSpPr/>
              <p:nvPr/>
            </p:nvSpPr>
            <p:spPr bwMode="auto">
              <a:xfrm>
                <a:off x="4620306" y="1235296"/>
                <a:ext cx="331665" cy="499207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103" name="组合 102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10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104" name="组合 103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105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6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7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87" name="组合 86"/>
            <p:cNvGrpSpPr/>
            <p:nvPr userDrawn="1"/>
          </p:nvGrpSpPr>
          <p:grpSpPr>
            <a:xfrm>
              <a:off x="10272478" y="6308389"/>
              <a:ext cx="716480" cy="198576"/>
              <a:chOff x="2372715" y="161759"/>
              <a:chExt cx="2695608" cy="747103"/>
            </a:xfrm>
          </p:grpSpPr>
          <p:grpSp>
            <p:nvGrpSpPr>
              <p:cNvPr id="88" name="组合 87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9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9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9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91" name="组合 90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92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3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2041996" y="3927615"/>
            <a:ext cx="8108006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473992" y="3927615"/>
            <a:ext cx="9244014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 l="1" t="13078" r="-1" b="115"/>
          <a:stretch>
            <a:fillRect/>
          </a:stretch>
        </p:blipFill>
        <p:spPr>
          <a:xfrm>
            <a:off x="0" y="-1"/>
            <a:ext cx="12191999" cy="4362681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4346687"/>
            <a:ext cx="12192001" cy="25113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434668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936" y="4346687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828800" y="2524126"/>
            <a:ext cx="8494006" cy="356807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554764" y="861200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7423183" y="0"/>
            <a:ext cx="4768815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文本框 44"/>
          <p:cNvSpPr txBox="1"/>
          <p:nvPr userDrawn="1"/>
        </p:nvSpPr>
        <p:spPr>
          <a:xfrm>
            <a:off x="-2647787" y="-2281727"/>
            <a:ext cx="603192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40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0</a:t>
            </a:r>
            <a:endParaRPr kumimoji="0" lang="zh-CN" altLang="en-US" sz="7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40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870981" y="0"/>
            <a:ext cx="5321017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  <p:grpSp>
        <p:nvGrpSpPr>
          <p:cNvPr id="9" name="Group 6"/>
          <p:cNvGrpSpPr/>
          <p:nvPr userDrawn="1"/>
        </p:nvGrpSpPr>
        <p:grpSpPr bwMode="auto">
          <a:xfrm>
            <a:off x="778934" y="687917"/>
            <a:ext cx="3299884" cy="5425016"/>
            <a:chOff x="0" y="0"/>
            <a:chExt cx="2476153" cy="4069266"/>
          </a:xfrm>
          <a:solidFill>
            <a:schemeClr val="bg1">
              <a:alpha val="25000"/>
            </a:schemeClr>
          </a:solidFill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437624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875248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1312872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1750496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7" name="矩形 8"/>
            <p:cNvSpPr>
              <a:spLocks noChangeArrowheads="1"/>
            </p:cNvSpPr>
            <p:nvPr/>
          </p:nvSpPr>
          <p:spPr bwMode="auto">
            <a:xfrm>
              <a:off x="2188121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59"/>
            <p:cNvSpPr>
              <a:spLocks noChangeArrowheads="1"/>
            </p:cNvSpPr>
            <p:nvPr/>
          </p:nvSpPr>
          <p:spPr bwMode="auto">
            <a:xfrm>
              <a:off x="0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9" name="矩形 60"/>
            <p:cNvSpPr>
              <a:spLocks noChangeArrowheads="1"/>
            </p:cNvSpPr>
            <p:nvPr/>
          </p:nvSpPr>
          <p:spPr bwMode="auto">
            <a:xfrm>
              <a:off x="437624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0" name="矩形 61"/>
            <p:cNvSpPr>
              <a:spLocks noChangeArrowheads="1"/>
            </p:cNvSpPr>
            <p:nvPr/>
          </p:nvSpPr>
          <p:spPr bwMode="auto">
            <a:xfrm>
              <a:off x="875248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1" name="矩形 62"/>
            <p:cNvSpPr>
              <a:spLocks noChangeArrowheads="1"/>
            </p:cNvSpPr>
            <p:nvPr/>
          </p:nvSpPr>
          <p:spPr bwMode="auto">
            <a:xfrm>
              <a:off x="1312872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63"/>
            <p:cNvSpPr>
              <a:spLocks noChangeArrowheads="1"/>
            </p:cNvSpPr>
            <p:nvPr/>
          </p:nvSpPr>
          <p:spPr bwMode="auto">
            <a:xfrm>
              <a:off x="1750496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64"/>
            <p:cNvSpPr>
              <a:spLocks noChangeArrowheads="1"/>
            </p:cNvSpPr>
            <p:nvPr/>
          </p:nvSpPr>
          <p:spPr bwMode="auto">
            <a:xfrm>
              <a:off x="2188121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4" name="矩形 66"/>
            <p:cNvSpPr>
              <a:spLocks noChangeArrowheads="1"/>
            </p:cNvSpPr>
            <p:nvPr/>
          </p:nvSpPr>
          <p:spPr bwMode="auto">
            <a:xfrm>
              <a:off x="0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5" name="矩形 67"/>
            <p:cNvSpPr>
              <a:spLocks noChangeArrowheads="1"/>
            </p:cNvSpPr>
            <p:nvPr/>
          </p:nvSpPr>
          <p:spPr bwMode="auto">
            <a:xfrm>
              <a:off x="437624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6" name="矩形 68"/>
            <p:cNvSpPr>
              <a:spLocks noChangeArrowheads="1"/>
            </p:cNvSpPr>
            <p:nvPr/>
          </p:nvSpPr>
          <p:spPr bwMode="auto">
            <a:xfrm>
              <a:off x="875248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7" name="矩形 69"/>
            <p:cNvSpPr>
              <a:spLocks noChangeArrowheads="1"/>
            </p:cNvSpPr>
            <p:nvPr/>
          </p:nvSpPr>
          <p:spPr bwMode="auto">
            <a:xfrm>
              <a:off x="1312872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8" name="矩形 70"/>
            <p:cNvSpPr>
              <a:spLocks noChangeArrowheads="1"/>
            </p:cNvSpPr>
            <p:nvPr/>
          </p:nvSpPr>
          <p:spPr bwMode="auto">
            <a:xfrm>
              <a:off x="1750496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9" name="矩形 71"/>
            <p:cNvSpPr>
              <a:spLocks noChangeArrowheads="1"/>
            </p:cNvSpPr>
            <p:nvPr/>
          </p:nvSpPr>
          <p:spPr bwMode="auto">
            <a:xfrm>
              <a:off x="2188121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0" name="矩形 73"/>
            <p:cNvSpPr>
              <a:spLocks noChangeArrowheads="1"/>
            </p:cNvSpPr>
            <p:nvPr/>
          </p:nvSpPr>
          <p:spPr bwMode="auto">
            <a:xfrm>
              <a:off x="0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1" name="矩形 74"/>
            <p:cNvSpPr>
              <a:spLocks noChangeArrowheads="1"/>
            </p:cNvSpPr>
            <p:nvPr/>
          </p:nvSpPr>
          <p:spPr bwMode="auto">
            <a:xfrm>
              <a:off x="437624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2" name="矩形 75"/>
            <p:cNvSpPr>
              <a:spLocks noChangeArrowheads="1"/>
            </p:cNvSpPr>
            <p:nvPr/>
          </p:nvSpPr>
          <p:spPr bwMode="auto">
            <a:xfrm>
              <a:off x="875248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76"/>
            <p:cNvSpPr>
              <a:spLocks noChangeArrowheads="1"/>
            </p:cNvSpPr>
            <p:nvPr/>
          </p:nvSpPr>
          <p:spPr bwMode="auto">
            <a:xfrm>
              <a:off x="1312872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4" name="矩形 77"/>
            <p:cNvSpPr>
              <a:spLocks noChangeArrowheads="1"/>
            </p:cNvSpPr>
            <p:nvPr/>
          </p:nvSpPr>
          <p:spPr bwMode="auto">
            <a:xfrm>
              <a:off x="1750496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5" name="矩形 78"/>
            <p:cNvSpPr>
              <a:spLocks noChangeArrowheads="1"/>
            </p:cNvSpPr>
            <p:nvPr/>
          </p:nvSpPr>
          <p:spPr bwMode="auto">
            <a:xfrm>
              <a:off x="2188121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6" name="矩形 80"/>
            <p:cNvSpPr>
              <a:spLocks noChangeArrowheads="1"/>
            </p:cNvSpPr>
            <p:nvPr/>
          </p:nvSpPr>
          <p:spPr bwMode="auto">
            <a:xfrm>
              <a:off x="0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7" name="矩形 81"/>
            <p:cNvSpPr>
              <a:spLocks noChangeArrowheads="1"/>
            </p:cNvSpPr>
            <p:nvPr/>
          </p:nvSpPr>
          <p:spPr bwMode="auto">
            <a:xfrm>
              <a:off x="437624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82"/>
            <p:cNvSpPr>
              <a:spLocks noChangeArrowheads="1"/>
            </p:cNvSpPr>
            <p:nvPr/>
          </p:nvSpPr>
          <p:spPr bwMode="auto">
            <a:xfrm>
              <a:off x="875248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83"/>
            <p:cNvSpPr>
              <a:spLocks noChangeArrowheads="1"/>
            </p:cNvSpPr>
            <p:nvPr/>
          </p:nvSpPr>
          <p:spPr bwMode="auto">
            <a:xfrm>
              <a:off x="1312872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40" name="矩形 84"/>
            <p:cNvSpPr>
              <a:spLocks noChangeArrowheads="1"/>
            </p:cNvSpPr>
            <p:nvPr/>
          </p:nvSpPr>
          <p:spPr bwMode="auto">
            <a:xfrm>
              <a:off x="1750496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41" name="矩形 85"/>
            <p:cNvSpPr>
              <a:spLocks noChangeArrowheads="1"/>
            </p:cNvSpPr>
            <p:nvPr/>
          </p:nvSpPr>
          <p:spPr bwMode="auto">
            <a:xfrm>
              <a:off x="2188121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42" name="矩形 87"/>
            <p:cNvSpPr>
              <a:spLocks noChangeArrowheads="1"/>
            </p:cNvSpPr>
            <p:nvPr/>
          </p:nvSpPr>
          <p:spPr bwMode="auto">
            <a:xfrm>
              <a:off x="0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47" name="矩形 88"/>
            <p:cNvSpPr>
              <a:spLocks noChangeArrowheads="1"/>
            </p:cNvSpPr>
            <p:nvPr/>
          </p:nvSpPr>
          <p:spPr bwMode="auto">
            <a:xfrm>
              <a:off x="437624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48" name="矩形 89"/>
            <p:cNvSpPr>
              <a:spLocks noChangeArrowheads="1"/>
            </p:cNvSpPr>
            <p:nvPr/>
          </p:nvSpPr>
          <p:spPr bwMode="auto">
            <a:xfrm>
              <a:off x="875248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49" name="矩形 90"/>
            <p:cNvSpPr>
              <a:spLocks noChangeArrowheads="1"/>
            </p:cNvSpPr>
            <p:nvPr/>
          </p:nvSpPr>
          <p:spPr bwMode="auto">
            <a:xfrm>
              <a:off x="1312872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0" name="矩形 91"/>
            <p:cNvSpPr>
              <a:spLocks noChangeArrowheads="1"/>
            </p:cNvSpPr>
            <p:nvPr/>
          </p:nvSpPr>
          <p:spPr bwMode="auto">
            <a:xfrm>
              <a:off x="1750496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1" name="矩形 92"/>
            <p:cNvSpPr>
              <a:spLocks noChangeArrowheads="1"/>
            </p:cNvSpPr>
            <p:nvPr/>
          </p:nvSpPr>
          <p:spPr bwMode="auto">
            <a:xfrm>
              <a:off x="2188121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2" name="矩形 94"/>
            <p:cNvSpPr>
              <a:spLocks noChangeArrowheads="1"/>
            </p:cNvSpPr>
            <p:nvPr/>
          </p:nvSpPr>
          <p:spPr bwMode="auto">
            <a:xfrm>
              <a:off x="0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3" name="矩形 95"/>
            <p:cNvSpPr>
              <a:spLocks noChangeArrowheads="1"/>
            </p:cNvSpPr>
            <p:nvPr/>
          </p:nvSpPr>
          <p:spPr bwMode="auto">
            <a:xfrm>
              <a:off x="437624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4" name="矩形 96"/>
            <p:cNvSpPr>
              <a:spLocks noChangeArrowheads="1"/>
            </p:cNvSpPr>
            <p:nvPr/>
          </p:nvSpPr>
          <p:spPr bwMode="auto">
            <a:xfrm>
              <a:off x="875248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5" name="矩形 97"/>
            <p:cNvSpPr>
              <a:spLocks noChangeArrowheads="1"/>
            </p:cNvSpPr>
            <p:nvPr/>
          </p:nvSpPr>
          <p:spPr bwMode="auto">
            <a:xfrm>
              <a:off x="1312872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6" name="矩形 98"/>
            <p:cNvSpPr>
              <a:spLocks noChangeArrowheads="1"/>
            </p:cNvSpPr>
            <p:nvPr/>
          </p:nvSpPr>
          <p:spPr bwMode="auto">
            <a:xfrm>
              <a:off x="1750496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7" name="矩形 99"/>
            <p:cNvSpPr>
              <a:spLocks noChangeArrowheads="1"/>
            </p:cNvSpPr>
            <p:nvPr/>
          </p:nvSpPr>
          <p:spPr bwMode="auto">
            <a:xfrm>
              <a:off x="2188121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8" name="矩形 101"/>
            <p:cNvSpPr>
              <a:spLocks noChangeArrowheads="1"/>
            </p:cNvSpPr>
            <p:nvPr/>
          </p:nvSpPr>
          <p:spPr bwMode="auto">
            <a:xfrm>
              <a:off x="0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9" name="矩形 102"/>
            <p:cNvSpPr>
              <a:spLocks noChangeArrowheads="1"/>
            </p:cNvSpPr>
            <p:nvPr/>
          </p:nvSpPr>
          <p:spPr bwMode="auto">
            <a:xfrm>
              <a:off x="437624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0" name="矩形 103"/>
            <p:cNvSpPr>
              <a:spLocks noChangeArrowheads="1"/>
            </p:cNvSpPr>
            <p:nvPr/>
          </p:nvSpPr>
          <p:spPr bwMode="auto">
            <a:xfrm>
              <a:off x="875248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1" name="矩形 104"/>
            <p:cNvSpPr>
              <a:spLocks noChangeArrowheads="1"/>
            </p:cNvSpPr>
            <p:nvPr/>
          </p:nvSpPr>
          <p:spPr bwMode="auto">
            <a:xfrm>
              <a:off x="1312872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2" name="矩形 105"/>
            <p:cNvSpPr>
              <a:spLocks noChangeArrowheads="1"/>
            </p:cNvSpPr>
            <p:nvPr/>
          </p:nvSpPr>
          <p:spPr bwMode="auto">
            <a:xfrm>
              <a:off x="1750496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3" name="矩形 106"/>
            <p:cNvSpPr>
              <a:spLocks noChangeArrowheads="1"/>
            </p:cNvSpPr>
            <p:nvPr/>
          </p:nvSpPr>
          <p:spPr bwMode="auto">
            <a:xfrm>
              <a:off x="2188121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4" name="矩形 108"/>
            <p:cNvSpPr>
              <a:spLocks noChangeArrowheads="1"/>
            </p:cNvSpPr>
            <p:nvPr/>
          </p:nvSpPr>
          <p:spPr bwMode="auto">
            <a:xfrm>
              <a:off x="0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5" name="矩形 109"/>
            <p:cNvSpPr>
              <a:spLocks noChangeArrowheads="1"/>
            </p:cNvSpPr>
            <p:nvPr/>
          </p:nvSpPr>
          <p:spPr bwMode="auto">
            <a:xfrm>
              <a:off x="437624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6" name="矩形 110"/>
            <p:cNvSpPr>
              <a:spLocks noChangeArrowheads="1"/>
            </p:cNvSpPr>
            <p:nvPr/>
          </p:nvSpPr>
          <p:spPr bwMode="auto">
            <a:xfrm>
              <a:off x="875248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7" name="矩形 111"/>
            <p:cNvSpPr>
              <a:spLocks noChangeArrowheads="1"/>
            </p:cNvSpPr>
            <p:nvPr/>
          </p:nvSpPr>
          <p:spPr bwMode="auto">
            <a:xfrm>
              <a:off x="1312872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8" name="矩形 112"/>
            <p:cNvSpPr>
              <a:spLocks noChangeArrowheads="1"/>
            </p:cNvSpPr>
            <p:nvPr/>
          </p:nvSpPr>
          <p:spPr bwMode="auto">
            <a:xfrm>
              <a:off x="1750496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113"/>
            <p:cNvSpPr>
              <a:spLocks noChangeArrowheads="1"/>
            </p:cNvSpPr>
            <p:nvPr/>
          </p:nvSpPr>
          <p:spPr bwMode="auto">
            <a:xfrm>
              <a:off x="2188121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0" name="矩形 115"/>
            <p:cNvSpPr>
              <a:spLocks noChangeArrowheads="1"/>
            </p:cNvSpPr>
            <p:nvPr/>
          </p:nvSpPr>
          <p:spPr bwMode="auto">
            <a:xfrm>
              <a:off x="0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1" name="矩形 116"/>
            <p:cNvSpPr>
              <a:spLocks noChangeArrowheads="1"/>
            </p:cNvSpPr>
            <p:nvPr/>
          </p:nvSpPr>
          <p:spPr bwMode="auto">
            <a:xfrm>
              <a:off x="437624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117"/>
            <p:cNvSpPr>
              <a:spLocks noChangeArrowheads="1"/>
            </p:cNvSpPr>
            <p:nvPr/>
          </p:nvSpPr>
          <p:spPr bwMode="auto">
            <a:xfrm>
              <a:off x="875248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118"/>
            <p:cNvSpPr>
              <a:spLocks noChangeArrowheads="1"/>
            </p:cNvSpPr>
            <p:nvPr/>
          </p:nvSpPr>
          <p:spPr bwMode="auto">
            <a:xfrm>
              <a:off x="1312872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4" name="矩形 119"/>
            <p:cNvSpPr>
              <a:spLocks noChangeArrowheads="1"/>
            </p:cNvSpPr>
            <p:nvPr/>
          </p:nvSpPr>
          <p:spPr bwMode="auto">
            <a:xfrm>
              <a:off x="1750496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120"/>
            <p:cNvSpPr>
              <a:spLocks noChangeArrowheads="1"/>
            </p:cNvSpPr>
            <p:nvPr/>
          </p:nvSpPr>
          <p:spPr bwMode="auto">
            <a:xfrm>
              <a:off x="2188121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88" name="组合 8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9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88" name="组合 8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9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</p:grpSp>
      <p:sp>
        <p:nvSpPr>
          <p:cNvPr id="3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/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6" name="任意多边形: 形状 57"/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sp>
            <p:nvSpPr>
              <p:cNvPr id="105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grpSp>
            <p:nvGrpSpPr>
              <p:cNvPr id="106" name="组合 10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11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10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11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10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10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93" name="组合 9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9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9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9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sp>
            <p:nvSpPr>
              <p:cNvPr id="105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grpSp>
            <p:nvGrpSpPr>
              <p:cNvPr id="106" name="组合 10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11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10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11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10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10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93" name="组合 9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9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9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9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</p:grpSp>
      <p:sp>
        <p:nvSpPr>
          <p:cNvPr id="36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sz="1800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sp>
            <p:nvSpPr>
              <p:cNvPr id="50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grpSp>
            <p:nvGrpSpPr>
              <p:cNvPr id="51" name="组合 50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4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5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1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sp>
            <p:nvSpPr>
              <p:cNvPr id="50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grpSp>
            <p:nvGrpSpPr>
              <p:cNvPr id="51" name="组合 50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4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5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1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sp>
            <p:nvSpPr>
              <p:cNvPr id="78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grpSp>
            <p:nvGrpSpPr>
              <p:cNvPr id="79" name="组合 78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8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82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83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7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7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66" name="组合 65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7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7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9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sp>
            <p:nvSpPr>
              <p:cNvPr id="78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grpSp>
            <p:nvGrpSpPr>
              <p:cNvPr id="79" name="组合 78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8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82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83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7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7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66" name="组合 65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7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7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9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</p:grpSp>
      <p:sp>
        <p:nvSpPr>
          <p:cNvPr id="36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sp>
            <p:nvSpPr>
              <p:cNvPr id="61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grpSp>
            <p:nvGrpSpPr>
              <p:cNvPr id="62" name="组合 6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63" name="组合 6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sp>
            <p:nvSpPr>
              <p:cNvPr id="61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grpSp>
            <p:nvGrpSpPr>
              <p:cNvPr id="62" name="组合 6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63" name="组合 6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</p:grpSp>
      <p:sp>
        <p:nvSpPr>
          <p:cNvPr id="69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sp>
            <p:nvSpPr>
              <p:cNvPr id="56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grpSp>
            <p:nvGrpSpPr>
              <p:cNvPr id="57" name="组合 56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3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0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1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4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2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40" name="组合 39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9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0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sp>
            <p:nvSpPr>
              <p:cNvPr id="56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grpSp>
            <p:nvGrpSpPr>
              <p:cNvPr id="57" name="组合 56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3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0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1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4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2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40" name="组合 39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9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0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</p:grpSp>
      <p:sp>
        <p:nvSpPr>
          <p:cNvPr id="64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sp>
            <p:nvSpPr>
              <p:cNvPr id="55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sp>
            <p:nvSpPr>
              <p:cNvPr id="55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/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6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5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  <p:sp>
              <p:nvSpPr>
                <p:cNvPr id="4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800"/>
                </a:p>
              </p:txBody>
            </p:sp>
          </p:grpSp>
        </p:grpSp>
      </p:grpSp>
      <p:sp>
        <p:nvSpPr>
          <p:cNvPr id="32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07D9317-7C4B-477D-9FCD-CD5482370328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B3BC9-7090-482A-AB63-1945A9C9F1E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697615" y="4908366"/>
            <a:ext cx="7059690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INSTITUTE OF TECHNOLOGY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 userDrawn="1"/>
        </p:nvGrpSpPr>
        <p:grpSpPr>
          <a:xfrm>
            <a:off x="566553" y="2031917"/>
            <a:ext cx="1778298" cy="3243219"/>
            <a:chOff x="611818" y="2031917"/>
            <a:chExt cx="1709547" cy="3117834"/>
          </a:xfrm>
        </p:grpSpPr>
        <p:grpSp>
          <p:nvGrpSpPr>
            <p:cNvPr id="70" name="组合 69"/>
            <p:cNvGrpSpPr/>
            <p:nvPr/>
          </p:nvGrpSpPr>
          <p:grpSpPr>
            <a:xfrm>
              <a:off x="611818" y="2051403"/>
              <a:ext cx="567014" cy="3098348"/>
              <a:chOff x="11305242" y="2003776"/>
              <a:chExt cx="354194" cy="1935432"/>
            </a:xfrm>
            <a:solidFill>
              <a:schemeClr val="bg1">
                <a:alpha val="5000"/>
              </a:schemeClr>
            </a:solidFill>
          </p:grpSpPr>
          <p:sp>
            <p:nvSpPr>
              <p:cNvPr id="85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Freeform 6"/>
              <p:cNvSpPr/>
              <p:nvPr/>
            </p:nvSpPr>
            <p:spPr bwMode="auto">
              <a:xfrm>
                <a:off x="11382341" y="3639427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7" name="组合 86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92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3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8" name="组合 87"/>
              <p:cNvGrpSpPr/>
              <p:nvPr/>
            </p:nvGrpSpPr>
            <p:grpSpPr>
              <a:xfrm>
                <a:off x="11380191" y="2640087"/>
                <a:ext cx="214274" cy="229664"/>
                <a:chOff x="3792874" y="3156423"/>
                <a:chExt cx="331330" cy="355128"/>
              </a:xfrm>
              <a:grpFill/>
            </p:grpSpPr>
            <p:sp>
              <p:nvSpPr>
                <p:cNvPr id="89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0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1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71" name="组合 70"/>
            <p:cNvGrpSpPr/>
            <p:nvPr userDrawn="1"/>
          </p:nvGrpSpPr>
          <p:grpSpPr>
            <a:xfrm>
              <a:off x="1752713" y="2031917"/>
              <a:ext cx="568652" cy="3091276"/>
              <a:chOff x="1752714" y="2031919"/>
              <a:chExt cx="568653" cy="3091274"/>
            </a:xfrm>
          </p:grpSpPr>
          <p:grpSp>
            <p:nvGrpSpPr>
              <p:cNvPr id="72" name="组合 71"/>
              <p:cNvGrpSpPr/>
              <p:nvPr/>
            </p:nvGrpSpPr>
            <p:grpSpPr>
              <a:xfrm>
                <a:off x="1769227" y="3776579"/>
                <a:ext cx="501270" cy="527572"/>
                <a:chOff x="6113463" y="3541713"/>
                <a:chExt cx="484188" cy="50958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3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4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/>
              <p:cNvGrpSpPr/>
              <p:nvPr/>
            </p:nvGrpSpPr>
            <p:grpSpPr>
              <a:xfrm>
                <a:off x="1752714" y="2031919"/>
                <a:ext cx="568653" cy="718220"/>
                <a:chOff x="6108700" y="2066926"/>
                <a:chExt cx="549275" cy="69373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1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2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4" name="组合 73"/>
              <p:cNvGrpSpPr/>
              <p:nvPr/>
            </p:nvGrpSpPr>
            <p:grpSpPr>
              <a:xfrm>
                <a:off x="1855433" y="3075554"/>
                <a:ext cx="381292" cy="328704"/>
                <a:chOff x="6186488" y="2930526"/>
                <a:chExt cx="368300" cy="317500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8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0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5" name="组合 74"/>
              <p:cNvGrpSpPr/>
              <p:nvPr/>
            </p:nvGrpSpPr>
            <p:grpSpPr>
              <a:xfrm>
                <a:off x="1804180" y="4681015"/>
                <a:ext cx="442058" cy="442178"/>
                <a:chOff x="11893476" y="1994536"/>
                <a:chExt cx="277932" cy="278006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6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5308" cy="27343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12"/>
                <p:cNvSpPr/>
                <p:nvPr/>
              </p:nvSpPr>
              <p:spPr bwMode="auto">
                <a:xfrm>
                  <a:off x="11893476" y="2009127"/>
                  <a:ext cx="105167" cy="263415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44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697616" y="1658264"/>
            <a:ext cx="7059689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  <a:endParaRPr lang="zh-CN" alt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 t="15558" b="38705"/>
          <a:stretch>
            <a:fillRect/>
          </a:stretch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Masters/_rels/slideMaster1.xml.rels><?xml version="1.0" encoding="UTF-8"?>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?>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3.xml.rels><?xml version="1.0" encoding="UTF-8"?>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4.xml.rels><?xml version="1.0" encoding="UTF-8"?>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5.xml.rels><?xml version="1.0" encoding="UTF-8"?>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6.xml.rels><?xml version="1.0" encoding="UTF-8"?>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?>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?>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9.xml"/></Relationships>
</file>

<file path=ppt/slideMasters/_rels/slideMaster9.xml.rels><?xml version="1.0" encoding="UTF-8"?>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10.xml.rels><?xml version="1.0" encoding="UTF-8"?>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2.xml"/></Relationships>
</file>

<file path=ppt/slideMasters/_rels/slideMaster11.xml.rels><?xml version="1.0" encoding="UTF-8"?>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12.xml.rels><?xml version="1.0" encoding="UTF-8"?>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_rels/slideMaster13.xml.rels><?xml version="1.0" encoding="UTF-8"?>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7.xml"/></Relationships>
</file>

<file path=ppt/slideMasters/_rels/slideMaster14.xml.rels><?xml version="1.0" encoding="UTF-8"?>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8.xml"/></Relationships>
</file>

<file path=ppt/slideMasters/_rels/slideMaster15.xml.rels><?xml version="1.0" encoding="UTF-8"?>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_rels/slideMaster16.xml.rels><?xml version="1.0" encoding="UTF-8"?><Relationships xmlns="http://schemas.openxmlformats.org/package/2006/relationships"><Relationship Id="rId5" Type="http://schemas.openxmlformats.org/officeDocument/2006/relationships/theme" Target="../theme/theme16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17.xml.rels><?xml version="1.0" encoding="UTF-8"?>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35.xml"/></Relationships>
</file>

<file path=ppt/slideMasters/_rels/slideMaster18.xml.rels><?xml version="1.0" encoding="UTF-8"?>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8" Type="http://schemas.openxmlformats.org/officeDocument/2006/relationships/theme" Target="../theme/theme18.xml"/><Relationship Id="rId27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55.xml"/><Relationship Id="rId2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/Relationships>
</file>

<file path=ppt/slides/_rels/slide2.xml.rels><?xml version="1.0" encoding="UTF-8"?>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62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2.xml"/></Relationships>
</file>

<file path=ppt/slides/_rels/slide4.xml.rels><?xml version="1.0" encoding="UTF-8"?>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36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2.xml"/></Relationships>
</file>

<file path=ppt/slides/_rels/slide6.xml.rels><?xml version="1.0" encoding="UTF-8"?>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36.xml"/><Relationship Id="rId5" Type="http://schemas.openxmlformats.org/officeDocument/2006/relationships/image" Target="../media/image37.png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7.xml.rels><?xml version="1.0" encoding="UTF-8"?>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36.xml"/><Relationship Id="rId5" Type="http://schemas.openxmlformats.org/officeDocument/2006/relationships/image" Target="../media/image38.png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6.xml"/><Relationship Id="rId1" Type="http://schemas.openxmlformats.org/officeDocument/2006/relationships/image" Target="../media/image39.png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2.xml"/></Relationships>
</file>

<file path=ppt/slides/_rels/slide11.xml.rels><?xml version="1.0" encoding="UTF-8"?>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5" Type="http://schemas.openxmlformats.org/officeDocument/2006/relationships/notesSlide" Target="../notesSlides/notesSlide11.xml"/><Relationship Id="rId34" Type="http://schemas.openxmlformats.org/officeDocument/2006/relationships/slideLayout" Target="../slideLayouts/slideLayout36.xml"/><Relationship Id="rId33" Type="http://schemas.openxmlformats.org/officeDocument/2006/relationships/tags" Target="../tags/tag81.xml"/><Relationship Id="rId32" Type="http://schemas.openxmlformats.org/officeDocument/2006/relationships/tags" Target="../tags/tag80.xml"/><Relationship Id="rId31" Type="http://schemas.openxmlformats.org/officeDocument/2006/relationships/tags" Target="../tags/tag79.xml"/><Relationship Id="rId30" Type="http://schemas.openxmlformats.org/officeDocument/2006/relationships/tags" Target="../tags/tag78.xml"/><Relationship Id="rId3" Type="http://schemas.openxmlformats.org/officeDocument/2006/relationships/tags" Target="../tags/tag51.xml"/><Relationship Id="rId29" Type="http://schemas.openxmlformats.org/officeDocument/2006/relationships/tags" Target="../tags/tag77.xml"/><Relationship Id="rId28" Type="http://schemas.openxmlformats.org/officeDocument/2006/relationships/tags" Target="../tags/tag76.xml"/><Relationship Id="rId27" Type="http://schemas.openxmlformats.org/officeDocument/2006/relationships/tags" Target="../tags/tag75.xml"/><Relationship Id="rId26" Type="http://schemas.openxmlformats.org/officeDocument/2006/relationships/tags" Target="../tags/tag74.xml"/><Relationship Id="rId25" Type="http://schemas.openxmlformats.org/officeDocument/2006/relationships/tags" Target="../tags/tag73.xml"/><Relationship Id="rId24" Type="http://schemas.openxmlformats.org/officeDocument/2006/relationships/tags" Target="../tags/tag72.xml"/><Relationship Id="rId23" Type="http://schemas.openxmlformats.org/officeDocument/2006/relationships/tags" Target="../tags/tag71.xml"/><Relationship Id="rId22" Type="http://schemas.openxmlformats.org/officeDocument/2006/relationships/tags" Target="../tags/tag70.xml"/><Relationship Id="rId21" Type="http://schemas.openxmlformats.org/officeDocument/2006/relationships/tags" Target="../tags/tag69.xml"/><Relationship Id="rId20" Type="http://schemas.openxmlformats.org/officeDocument/2006/relationships/tags" Target="../tags/tag68.xml"/><Relationship Id="rId2" Type="http://schemas.openxmlformats.org/officeDocument/2006/relationships/tags" Target="../tags/tag50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12.xml.rels><?xml version="1.0" encoding="UTF-8"?>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6.xml"/><Relationship Id="rId3" Type="http://schemas.openxmlformats.org/officeDocument/2006/relationships/tags" Target="../tags/tag8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3.xml.rels><?xml version="1.0" encoding="UTF-8"?>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36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tags" Target="../tags/tag83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6.xml"/><Relationship Id="rId1" Type="http://schemas.openxmlformats.org/officeDocument/2006/relationships/image" Target="../media/image44.png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2.xml"/></Relationships>
</file>

<file path=ppt/slides/_rels/slide16.xml.rels><?xml version="1.0" encoding="UTF-8"?>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36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tags" Target="../tags/tag84.xml"/></Relationships>
</file>

<file path=ppt/slides/_rels/slide17.xml.rels><?xml version="1.0" encoding="UTF-8"?>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36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6.xml"/></Relationships>
</file>

<file path=ppt/slides/_rels/slide19.xml.rels><?xml version="1.0" encoding="UTF-8"?>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36.xml"/><Relationship Id="rId3" Type="http://schemas.openxmlformats.org/officeDocument/2006/relationships/image" Target="../media/image49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2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6.xml"/></Relationships>
</file>

<file path=ppt/slides/_rels/slide22.xml.rels><?xml version="1.0" encoding="UTF-8"?><Relationships xmlns="http://schemas.openxmlformats.org/package/2006/relationships"><Relationship Id="rId4" Type="http://schemas.openxmlformats.org/officeDocument/2006/relationships/slideLayout" Target="../slideLayouts/slideLayout36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tags" Target="../tags/tag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3350895" y="4010660"/>
            <a:ext cx="8074025" cy="22377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/>
              <a:t>成员：徐文彬</a:t>
            </a:r>
            <a:r>
              <a:rPr lang="en-US" altLang="zh-CN" sz="1800" dirty="0"/>
              <a:t xml:space="preserve">-1120221397 </a:t>
            </a:r>
            <a:r>
              <a:rPr lang="zh-CN" altLang="en-US" sz="1800" dirty="0"/>
              <a:t>赵会洋</a:t>
            </a:r>
            <a:r>
              <a:rPr lang="en-US" altLang="zh-CN" sz="1800" dirty="0"/>
              <a:t xml:space="preserve">-1120221594 </a:t>
            </a:r>
            <a:r>
              <a:rPr lang="zh-CN" altLang="en-US" sz="1800" dirty="0"/>
              <a:t>崔琛浩</a:t>
            </a:r>
            <a:r>
              <a:rPr lang="en-US" altLang="zh-CN" sz="1800" dirty="0"/>
              <a:t>-1120221572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r>
              <a:rPr lang="zh-CN" altLang="en-US" sz="1800" dirty="0"/>
              <a:t>时　间：</a:t>
            </a:r>
            <a:fld id="{557380AF-A950-485A-9126-2F7168CD3CCC}" type="datetime1">
              <a:rPr lang="zh-CN" altLang="en-US" sz="1800" smtClean="0"/>
            </a:fld>
            <a:endParaRPr lang="zh-CN" altLang="en-US" sz="1800" dirty="0"/>
          </a:p>
        </p:txBody>
      </p:sp>
      <p:sp>
        <p:nvSpPr>
          <p:cNvPr id="20" name="文本占位符 27"/>
          <p:cNvSpPr>
            <a:spLocks noGrp="1"/>
          </p:cNvSpPr>
          <p:nvPr>
            <p:ph type="body" sz="quarter" idx="13"/>
          </p:nvPr>
        </p:nvSpPr>
        <p:spPr>
          <a:xfrm>
            <a:off x="3549208" y="1484311"/>
            <a:ext cx="7287114" cy="2386807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sz="4570" b="1" dirty="0">
                <a:latin typeface="+mn-ea"/>
                <a:ea typeface="+mn-ea"/>
              </a:rPr>
              <a:t>纽约市出租车行程数据挖掘：</a:t>
            </a:r>
            <a:endParaRPr lang="zh-CN" altLang="en-US" sz="457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latin typeface="+mn-ea"/>
                <a:ea typeface="+mn-ea"/>
              </a:rPr>
              <a:t xml:space="preserve">基于 </a:t>
            </a:r>
            <a:r>
              <a:rPr lang="en-US" altLang="zh-CN" sz="3200" b="1" dirty="0">
                <a:latin typeface="+mn-ea"/>
                <a:ea typeface="+mn-ea"/>
              </a:rPr>
              <a:t xml:space="preserve">Data-Centric </a:t>
            </a:r>
            <a:r>
              <a:rPr lang="zh-CN" altLang="en-US" sz="3200" b="1" dirty="0">
                <a:latin typeface="+mn-ea"/>
                <a:ea typeface="+mn-ea"/>
              </a:rPr>
              <a:t>方法的费用预测与运营规律分析</a:t>
            </a:r>
            <a:endParaRPr lang="zh-CN" altLang="en-US" sz="3200" b="1" dirty="0">
              <a:latin typeface="+mn-ea"/>
              <a:ea typeface="+mn-ea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549208" y="4010868"/>
            <a:ext cx="7287114" cy="0"/>
          </a:xfrm>
          <a:prstGeom prst="line">
            <a:avLst/>
          </a:prstGeom>
          <a:ln w="28575" cmpd="sng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>
            <p:custDataLst>
              <p:tags r:id="rId1"/>
            </p:custDataLst>
          </p:nvPr>
        </p:nvGrpSpPr>
        <p:grpSpPr>
          <a:xfrm>
            <a:off x="6098692" y="3029012"/>
            <a:ext cx="5843479" cy="511760"/>
            <a:chOff x="5181690" y="2820871"/>
            <a:chExt cx="6290318" cy="550893"/>
          </a:xfrm>
        </p:grpSpPr>
        <p:sp>
          <p:nvSpPr>
            <p:cNvPr id="4" name="椭圆 3"/>
            <p:cNvSpPr/>
            <p:nvPr>
              <p:custDataLst>
                <p:tags r:id="rId2"/>
              </p:custDataLst>
            </p:nvPr>
          </p:nvSpPr>
          <p:spPr>
            <a:xfrm>
              <a:off x="5181690" y="2820871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Century Gothic" panose="020B0502020202020204" pitchFamily="34" charset="0"/>
                </a:rPr>
                <a:t>1</a:t>
              </a:r>
              <a:endParaRPr lang="zh-CN" alt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3"/>
              </p:custDataLst>
            </p:nvPr>
          </p:nvSpPr>
          <p:spPr>
            <a:xfrm>
              <a:off x="6025662" y="2880873"/>
              <a:ext cx="5446346" cy="39714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2400" b="1" spc="300" dirty="0">
                  <a:latin typeface="+mj-ea"/>
                  <a:ea typeface="+mj-ea"/>
                </a:rPr>
                <a:t>问题</a:t>
              </a:r>
              <a:r>
                <a:rPr lang="zh-CN" altLang="en-US" sz="2400" b="1" spc="300" dirty="0">
                  <a:latin typeface="+mj-ea"/>
                  <a:ea typeface="+mj-ea"/>
                </a:rPr>
                <a:t>背景</a:t>
              </a:r>
              <a:endParaRPr lang="zh-CN" altLang="en-US" sz="2400" b="1" spc="300" dirty="0">
                <a:latin typeface="+mj-ea"/>
                <a:ea typeface="+mj-ea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4"/>
            </p:custDataLst>
          </p:nvPr>
        </p:nvGrpSpPr>
        <p:grpSpPr>
          <a:xfrm>
            <a:off x="6100607" y="3763022"/>
            <a:ext cx="5843479" cy="511175"/>
            <a:chOff x="5181690" y="3693789"/>
            <a:chExt cx="6290318" cy="550893"/>
          </a:xfrm>
        </p:grpSpPr>
        <p:sp>
          <p:nvSpPr>
            <p:cNvPr id="5" name="椭圆 4"/>
            <p:cNvSpPr/>
            <p:nvPr>
              <p:custDataLst>
                <p:tags r:id="rId5"/>
              </p:custDataLst>
            </p:nvPr>
          </p:nvSpPr>
          <p:spPr>
            <a:xfrm>
              <a:off x="5181690" y="3693789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Century Gothic" panose="020B0502020202020204" pitchFamily="34" charset="0"/>
                </a:rPr>
                <a:t>2</a:t>
              </a:r>
              <a:endParaRPr lang="zh-CN" alt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6"/>
              </p:custDataLst>
            </p:nvPr>
          </p:nvSpPr>
          <p:spPr>
            <a:xfrm>
              <a:off x="6025662" y="3748369"/>
              <a:ext cx="5446346" cy="39714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2400" b="1" spc="300" dirty="0">
                  <a:latin typeface="+mj-ea"/>
                  <a:ea typeface="+mj-ea"/>
                </a:rPr>
                <a:t>数据</a:t>
              </a:r>
              <a:r>
                <a:rPr lang="zh-CN" altLang="en-US" sz="2400" b="1" spc="300" dirty="0">
                  <a:latin typeface="+mj-ea"/>
                  <a:ea typeface="+mj-ea"/>
                </a:rPr>
                <a:t>介绍</a:t>
              </a:r>
              <a:endParaRPr lang="zh-CN" altLang="en-US" sz="2400" b="1" spc="300" dirty="0">
                <a:latin typeface="+mj-ea"/>
                <a:ea typeface="+mj-ea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6098692" y="4496447"/>
            <a:ext cx="5852955" cy="511175"/>
            <a:chOff x="5184190" y="4548742"/>
            <a:chExt cx="6300518" cy="550893"/>
          </a:xfrm>
        </p:grpSpPr>
        <p:sp>
          <p:nvSpPr>
            <p:cNvPr id="6" name="椭圆 5"/>
            <p:cNvSpPr/>
            <p:nvPr>
              <p:custDataLst>
                <p:tags r:id="rId8"/>
              </p:custDataLst>
            </p:nvPr>
          </p:nvSpPr>
          <p:spPr>
            <a:xfrm>
              <a:off x="5184190" y="4548742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Century Gothic" panose="020B0502020202020204" pitchFamily="34" charset="0"/>
                </a:rPr>
                <a:t>3</a:t>
              </a:r>
              <a:endParaRPr lang="zh-CN" alt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9"/>
              </p:custDataLst>
            </p:nvPr>
          </p:nvSpPr>
          <p:spPr>
            <a:xfrm>
              <a:off x="6025662" y="4608744"/>
              <a:ext cx="5459046" cy="39714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2400" b="1" spc="300" dirty="0">
                  <a:latin typeface="+mj-ea"/>
                  <a:ea typeface="+mj-ea"/>
                </a:rPr>
                <a:t>技术方案</a:t>
              </a:r>
              <a:endParaRPr lang="zh-CN" altLang="en-US" sz="2400" b="1" spc="300" dirty="0">
                <a:latin typeface="+mj-ea"/>
                <a:ea typeface="+mj-ea"/>
              </a:endParaRPr>
            </a:p>
          </p:txBody>
        </p:sp>
      </p:grpSp>
      <p:grpSp>
        <p:nvGrpSpPr>
          <p:cNvPr id="16" name="组合 15"/>
          <p:cNvGrpSpPr/>
          <p:nvPr>
            <p:custDataLst>
              <p:tags r:id="rId10"/>
            </p:custDataLst>
          </p:nvPr>
        </p:nvGrpSpPr>
        <p:grpSpPr>
          <a:xfrm>
            <a:off x="6108217" y="5229872"/>
            <a:ext cx="5843479" cy="511175"/>
            <a:chOff x="5181690" y="5404127"/>
            <a:chExt cx="6290318" cy="550893"/>
          </a:xfrm>
        </p:grpSpPr>
        <p:sp>
          <p:nvSpPr>
            <p:cNvPr id="7" name="椭圆 6"/>
            <p:cNvSpPr/>
            <p:nvPr>
              <p:custDataLst>
                <p:tags r:id="rId11"/>
              </p:custDataLst>
            </p:nvPr>
          </p:nvSpPr>
          <p:spPr>
            <a:xfrm>
              <a:off x="5181690" y="5404127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Century Gothic" panose="020B0502020202020204" pitchFamily="34" charset="0"/>
                </a:rPr>
                <a:t>4</a:t>
              </a:r>
              <a:endParaRPr lang="zh-CN" alt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12"/>
              </p:custDataLst>
            </p:nvPr>
          </p:nvSpPr>
          <p:spPr>
            <a:xfrm>
              <a:off x="6025662" y="5469119"/>
              <a:ext cx="5446346" cy="39714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2400" b="1" spc="300" dirty="0">
                  <a:latin typeface="+mj-ea"/>
                  <a:ea typeface="+mj-ea"/>
                </a:rPr>
                <a:t>实验结果</a:t>
              </a:r>
              <a:endParaRPr lang="zh-CN" altLang="en-US" sz="2400" b="1" spc="300" dirty="0">
                <a:latin typeface="+mj-ea"/>
                <a:ea typeface="+mj-ea"/>
              </a:endParaRPr>
            </a:p>
          </p:txBody>
        </p:sp>
      </p:grpSp>
      <p:sp>
        <p:nvSpPr>
          <p:cNvPr id="23" name="文本占位符 5"/>
          <p:cNvSpPr txBox="1"/>
          <p:nvPr/>
        </p:nvSpPr>
        <p:spPr>
          <a:xfrm>
            <a:off x="1678166" y="3775845"/>
            <a:ext cx="2762739" cy="9143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6000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4" name="文本占位符 8"/>
          <p:cNvSpPr txBox="1"/>
          <p:nvPr/>
        </p:nvSpPr>
        <p:spPr>
          <a:xfrm>
            <a:off x="2063073" y="4793977"/>
            <a:ext cx="1992924" cy="3608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Tx/>
              <a:buNone/>
              <a:defRPr sz="2000" b="0" kern="1200" baseline="0">
                <a:solidFill>
                  <a:schemeClr val="accent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CONTENTS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767873" y="5369423"/>
            <a:ext cx="583324" cy="617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>
            <p:custDataLst>
              <p:tags r:id="rId13"/>
            </p:custDataLst>
          </p:nvPr>
        </p:nvGrpSpPr>
        <p:grpSpPr>
          <a:xfrm>
            <a:off x="6098692" y="5963297"/>
            <a:ext cx="5843479" cy="511175"/>
            <a:chOff x="5181690" y="5404127"/>
            <a:chExt cx="6290318" cy="550893"/>
          </a:xfrm>
        </p:grpSpPr>
        <p:sp>
          <p:nvSpPr>
            <p:cNvPr id="3" name="椭圆 2"/>
            <p:cNvSpPr/>
            <p:nvPr>
              <p:custDataLst>
                <p:tags r:id="rId14"/>
              </p:custDataLst>
            </p:nvPr>
          </p:nvSpPr>
          <p:spPr>
            <a:xfrm>
              <a:off x="5181690" y="5404127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Century Gothic" panose="020B0502020202020204" pitchFamily="34" charset="0"/>
                </a:rPr>
                <a:t>5</a:t>
              </a:r>
              <a:endParaRPr lang="zh-CN" alt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15"/>
              </p:custDataLst>
            </p:nvPr>
          </p:nvSpPr>
          <p:spPr>
            <a:xfrm>
              <a:off x="6025662" y="5469119"/>
              <a:ext cx="5446346" cy="3976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2400" b="1" spc="300" dirty="0">
                  <a:latin typeface="+mj-ea"/>
                  <a:ea typeface="+mj-ea"/>
                </a:rPr>
                <a:t>项目</a:t>
              </a:r>
              <a:r>
                <a:rPr lang="zh-CN" altLang="en-US" sz="2400" b="1" spc="300" dirty="0">
                  <a:latin typeface="+mj-ea"/>
                  <a:ea typeface="+mj-ea"/>
                </a:rPr>
                <a:t>总结</a:t>
              </a:r>
              <a:endParaRPr lang="zh-CN" altLang="en-US" sz="2400" b="1" spc="300" dirty="0"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4227544" y="4283909"/>
            <a:ext cx="3660158" cy="782043"/>
            <a:chOff x="5181690" y="2820871"/>
            <a:chExt cx="2578318" cy="550893"/>
          </a:xfrm>
        </p:grpSpPr>
        <p:sp>
          <p:nvSpPr>
            <p:cNvPr id="4" name="椭圆 3"/>
            <p:cNvSpPr/>
            <p:nvPr/>
          </p:nvSpPr>
          <p:spPr>
            <a:xfrm>
              <a:off x="5181690" y="2820871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dirty="0">
                  <a:latin typeface="Century Gothic" panose="020B0502020202020204" pitchFamily="34" charset="0"/>
                </a:rPr>
                <a:t>1</a:t>
              </a:r>
              <a:endParaRPr lang="en-US" altLang="zh-CN" sz="4400" dirty="0">
                <a:latin typeface="Century Gothic" panose="020B0502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988604" y="2888229"/>
              <a:ext cx="1771404" cy="3900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3600" b="1" spc="300" dirty="0">
                  <a:latin typeface="+mj-ea"/>
                  <a:ea typeface="+mj-ea"/>
                </a:rPr>
                <a:t>问题</a:t>
              </a:r>
              <a:r>
                <a:rPr lang="zh-CN" altLang="en-US" sz="3600" b="1" spc="300" dirty="0">
                  <a:latin typeface="+mj-ea"/>
                  <a:ea typeface="+mj-ea"/>
                </a:rPr>
                <a:t>背景</a:t>
              </a:r>
              <a:endParaRPr lang="zh-CN" altLang="en-US" sz="3600" b="1" spc="300" dirty="0"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zh-CN" altLang="en-US" dirty="0"/>
              <a:t>问题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660400" y="2426768"/>
            <a:ext cx="5246913" cy="343807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11835" y="1263015"/>
            <a:ext cx="10767695" cy="800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457200" eaLnBrk="1">
              <a:lnSpc>
                <a:spcPct val="130000"/>
              </a:lnSpc>
            </a:pPr>
            <a:r>
              <a:rPr lang="zh-CN" altLang="en-US" sz="2000" b="1" spc="300" dirty="0"/>
              <a:t>纽约市网约车行程规模庞大，车费受距离、时长、区域和时段等多种因素影响。同时，原始数据存在缺失、异常和标签噪声，影响预测可靠性。</a:t>
            </a:r>
            <a:endParaRPr lang="zh-CN" altLang="en-US" sz="2000" b="1" spc="300" dirty="0"/>
          </a:p>
        </p:txBody>
      </p:sp>
      <p:sp>
        <p:nvSpPr>
          <p:cNvPr id="33" name="文本框 32"/>
          <p:cNvSpPr txBox="1"/>
          <p:nvPr>
            <p:custDataLst>
              <p:tags r:id="rId2"/>
            </p:custDataLst>
          </p:nvPr>
        </p:nvSpPr>
        <p:spPr>
          <a:xfrm>
            <a:off x="1955799" y="3372485"/>
            <a:ext cx="2656114" cy="5594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b="1" spc="300" dirty="0">
                <a:solidFill>
                  <a:schemeClr val="accent1"/>
                </a:solidFill>
                <a:latin typeface="+mj-ea"/>
                <a:ea typeface="+mj-ea"/>
              </a:rPr>
              <a:t>业务价值</a:t>
            </a:r>
            <a:endParaRPr lang="zh-CN" altLang="en-US" sz="28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4" name="文本框 33"/>
          <p:cNvSpPr txBox="1"/>
          <p:nvPr>
            <p:custDataLst>
              <p:tags r:id="rId3"/>
            </p:custDataLst>
          </p:nvPr>
        </p:nvSpPr>
        <p:spPr>
          <a:xfrm>
            <a:off x="974271" y="4186032"/>
            <a:ext cx="4619170" cy="1078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ctr" eaLnBrk="1">
              <a:lnSpc>
                <a:spcPct val="130000"/>
              </a:lnSpc>
              <a:buClr>
                <a:srgbClr val="006434"/>
              </a:buClr>
              <a:buFont typeface="Wingdings" panose="05000000000000000000" charset="0"/>
              <a:buChar char="l"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为乘客提供可靠的费用参考</a:t>
            </a:r>
            <a:endParaRPr lang="zh-CN" altLang="en-US" b="1" spc="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 algn="ctr" eaLnBrk="1">
              <a:lnSpc>
                <a:spcPct val="130000"/>
              </a:lnSpc>
              <a:buClr>
                <a:srgbClr val="006434"/>
              </a:buClr>
              <a:buFont typeface="Wingdings" panose="05000000000000000000" charset="0"/>
              <a:buChar char="l"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帮助平台优化定价和派单机制</a:t>
            </a:r>
            <a:endParaRPr lang="zh-CN" altLang="en-US" b="1" spc="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 algn="ctr" eaLnBrk="1">
              <a:lnSpc>
                <a:spcPct val="130000"/>
              </a:lnSpc>
              <a:buClr>
                <a:srgbClr val="006434"/>
              </a:buClr>
              <a:buFont typeface="Wingdings" panose="05000000000000000000" charset="0"/>
              <a:buChar char="l"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识别异常计费，减少费用争议</a:t>
            </a:r>
            <a:endParaRPr lang="zh-CN" altLang="en-US" b="1" spc="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矩形 34"/>
          <p:cNvSpPr/>
          <p:nvPr>
            <p:custDataLst>
              <p:tags r:id="rId4"/>
            </p:custDataLst>
          </p:nvPr>
        </p:nvSpPr>
        <p:spPr>
          <a:xfrm>
            <a:off x="6284688" y="2426768"/>
            <a:ext cx="5246911" cy="343807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5"/>
            </p:custDataLst>
          </p:nvPr>
        </p:nvSpPr>
        <p:spPr>
          <a:xfrm>
            <a:off x="7499714" y="3372485"/>
            <a:ext cx="2816860" cy="5594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b="1" spc="300" dirty="0">
                <a:solidFill>
                  <a:schemeClr val="accent4"/>
                </a:solidFill>
                <a:latin typeface="+mj-ea"/>
                <a:ea typeface="+mj-ea"/>
              </a:rPr>
              <a:t>科学与技术价值</a:t>
            </a:r>
            <a:endParaRPr lang="zh-CN" altLang="en-US" sz="2800" b="1" spc="3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38" name="文本框 37"/>
          <p:cNvSpPr txBox="1"/>
          <p:nvPr>
            <p:custDataLst>
              <p:tags r:id="rId6"/>
            </p:custDataLst>
          </p:nvPr>
        </p:nvSpPr>
        <p:spPr>
          <a:xfrm>
            <a:off x="6598558" y="4184127"/>
            <a:ext cx="4619170" cy="1078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ctr" eaLnBrk="1">
              <a:lnSpc>
                <a:spcPct val="130000"/>
              </a:lnSpc>
              <a:buClr>
                <a:srgbClr val="A13F0B"/>
              </a:buClr>
              <a:buFont typeface="Wingdings" panose="05000000000000000000" charset="0"/>
              <a:buChar char="l"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量化数据治理对模型性能的影响</a:t>
            </a:r>
            <a:endParaRPr lang="zh-CN" altLang="en-US" b="1" spc="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 algn="ctr" eaLnBrk="1">
              <a:lnSpc>
                <a:spcPct val="130000"/>
              </a:lnSpc>
              <a:buClr>
                <a:srgbClr val="A13F0B"/>
              </a:buClr>
              <a:buFont typeface="Wingdings" panose="05000000000000000000" charset="0"/>
              <a:buChar char="l"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比较不同机器学习模型的预测能力</a:t>
            </a:r>
            <a:endParaRPr lang="zh-CN" altLang="en-US" b="1" spc="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 algn="ctr" eaLnBrk="1">
              <a:lnSpc>
                <a:spcPct val="130000"/>
              </a:lnSpc>
              <a:buClr>
                <a:srgbClr val="A13F0B"/>
              </a:buClr>
              <a:buFont typeface="Wingdings" panose="05000000000000000000" charset="0"/>
              <a:buChar char="l"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构建可复用的数据治理与预测流程</a:t>
            </a:r>
            <a:endParaRPr lang="zh-CN" altLang="en-US" b="1" spc="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4" name="组合 3"/>
          <p:cNvGrpSpPr/>
          <p:nvPr>
            <p:custDataLst>
              <p:tags r:id="rId7"/>
            </p:custDataLst>
          </p:nvPr>
        </p:nvGrpSpPr>
        <p:grpSpPr>
          <a:xfrm>
            <a:off x="8605566" y="2662555"/>
            <a:ext cx="605155" cy="610235"/>
            <a:chOff x="13232" y="4172"/>
            <a:chExt cx="1606" cy="1606"/>
          </a:xfrm>
        </p:grpSpPr>
        <p:sp>
          <p:nvSpPr>
            <p:cNvPr id="36" name="椭圆 35"/>
            <p:cNvSpPr/>
            <p:nvPr>
              <p:custDataLst>
                <p:tags r:id="rId8"/>
              </p:custDataLst>
            </p:nvPr>
          </p:nvSpPr>
          <p:spPr>
            <a:xfrm>
              <a:off x="13232" y="4172"/>
              <a:ext cx="1607" cy="160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>
              <p:custDataLst>
                <p:tags r:id="rId9"/>
              </p:custDataLst>
            </p:nvPr>
          </p:nvGrpSpPr>
          <p:grpSpPr>
            <a:xfrm>
              <a:off x="13657" y="4588"/>
              <a:ext cx="758" cy="715"/>
              <a:chOff x="1528763" y="4175125"/>
              <a:chExt cx="481013" cy="454026"/>
            </a:xfrm>
            <a:solidFill>
              <a:schemeClr val="bg1"/>
            </a:solidFill>
          </p:grpSpPr>
          <p:sp>
            <p:nvSpPr>
              <p:cNvPr id="40" name="Freeform 82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1603375" y="4175125"/>
                <a:ext cx="330200" cy="398463"/>
              </a:xfrm>
              <a:custGeom>
                <a:avLst/>
                <a:gdLst>
                  <a:gd name="T0" fmla="*/ 4 w 88"/>
                  <a:gd name="T1" fmla="*/ 46 h 106"/>
                  <a:gd name="T2" fmla="*/ 42 w 88"/>
                  <a:gd name="T3" fmla="*/ 8 h 106"/>
                  <a:gd name="T4" fmla="*/ 42 w 88"/>
                  <a:gd name="T5" fmla="*/ 104 h 106"/>
                  <a:gd name="T6" fmla="*/ 44 w 88"/>
                  <a:gd name="T7" fmla="*/ 106 h 106"/>
                  <a:gd name="T8" fmla="*/ 46 w 88"/>
                  <a:gd name="T9" fmla="*/ 104 h 106"/>
                  <a:gd name="T10" fmla="*/ 46 w 88"/>
                  <a:gd name="T11" fmla="*/ 8 h 106"/>
                  <a:gd name="T12" fmla="*/ 84 w 88"/>
                  <a:gd name="T13" fmla="*/ 46 h 106"/>
                  <a:gd name="T14" fmla="*/ 88 w 88"/>
                  <a:gd name="T15" fmla="*/ 46 h 106"/>
                  <a:gd name="T16" fmla="*/ 88 w 88"/>
                  <a:gd name="T17" fmla="*/ 43 h 106"/>
                  <a:gd name="T18" fmla="*/ 46 w 88"/>
                  <a:gd name="T19" fmla="*/ 1 h 106"/>
                  <a:gd name="T20" fmla="*/ 42 w 88"/>
                  <a:gd name="T21" fmla="*/ 1 h 106"/>
                  <a:gd name="T22" fmla="*/ 0 w 88"/>
                  <a:gd name="T23" fmla="*/ 43 h 106"/>
                  <a:gd name="T24" fmla="*/ 0 w 88"/>
                  <a:gd name="T25" fmla="*/ 46 h 106"/>
                  <a:gd name="T26" fmla="*/ 4 w 88"/>
                  <a:gd name="T27" fmla="*/ 46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106">
                    <a:moveTo>
                      <a:pt x="4" y="46"/>
                    </a:moveTo>
                    <a:cubicBezTo>
                      <a:pt x="42" y="8"/>
                      <a:pt x="42" y="8"/>
                      <a:pt x="42" y="8"/>
                    </a:cubicBezTo>
                    <a:cubicBezTo>
                      <a:pt x="42" y="104"/>
                      <a:pt x="42" y="104"/>
                      <a:pt x="42" y="104"/>
                    </a:cubicBezTo>
                    <a:cubicBezTo>
                      <a:pt x="42" y="105"/>
                      <a:pt x="43" y="106"/>
                      <a:pt x="44" y="106"/>
                    </a:cubicBezTo>
                    <a:cubicBezTo>
                      <a:pt x="45" y="106"/>
                      <a:pt x="46" y="105"/>
                      <a:pt x="46" y="104"/>
                    </a:cubicBezTo>
                    <a:cubicBezTo>
                      <a:pt x="46" y="8"/>
                      <a:pt x="46" y="8"/>
                      <a:pt x="46" y="8"/>
                    </a:cubicBezTo>
                    <a:cubicBezTo>
                      <a:pt x="84" y="46"/>
                      <a:pt x="84" y="46"/>
                      <a:pt x="84" y="46"/>
                    </a:cubicBezTo>
                    <a:cubicBezTo>
                      <a:pt x="85" y="47"/>
                      <a:pt x="87" y="47"/>
                      <a:pt x="88" y="46"/>
                    </a:cubicBezTo>
                    <a:cubicBezTo>
                      <a:pt x="88" y="45"/>
                      <a:pt x="88" y="44"/>
                      <a:pt x="88" y="43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5" y="0"/>
                      <a:pt x="43" y="0"/>
                      <a:pt x="42" y="1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4"/>
                      <a:pt x="0" y="45"/>
                      <a:pt x="0" y="46"/>
                    </a:cubicBezTo>
                    <a:cubicBezTo>
                      <a:pt x="1" y="47"/>
                      <a:pt x="3" y="47"/>
                      <a:pt x="4" y="4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1" name="Freeform 83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1528763" y="4557713"/>
                <a:ext cx="481013" cy="71438"/>
              </a:xfrm>
              <a:custGeom>
                <a:avLst/>
                <a:gdLst>
                  <a:gd name="T0" fmla="*/ 126 w 128"/>
                  <a:gd name="T1" fmla="*/ 0 h 19"/>
                  <a:gd name="T2" fmla="*/ 123 w 128"/>
                  <a:gd name="T3" fmla="*/ 2 h 19"/>
                  <a:gd name="T4" fmla="*/ 123 w 128"/>
                  <a:gd name="T5" fmla="*/ 14 h 19"/>
                  <a:gd name="T6" fmla="*/ 5 w 128"/>
                  <a:gd name="T7" fmla="*/ 14 h 19"/>
                  <a:gd name="T8" fmla="*/ 5 w 128"/>
                  <a:gd name="T9" fmla="*/ 2 h 19"/>
                  <a:gd name="T10" fmla="*/ 2 w 128"/>
                  <a:gd name="T11" fmla="*/ 0 h 19"/>
                  <a:gd name="T12" fmla="*/ 0 w 128"/>
                  <a:gd name="T13" fmla="*/ 2 h 19"/>
                  <a:gd name="T14" fmla="*/ 0 w 128"/>
                  <a:gd name="T15" fmla="*/ 17 h 19"/>
                  <a:gd name="T16" fmla="*/ 2 w 128"/>
                  <a:gd name="T17" fmla="*/ 19 h 19"/>
                  <a:gd name="T18" fmla="*/ 126 w 128"/>
                  <a:gd name="T19" fmla="*/ 19 h 19"/>
                  <a:gd name="T20" fmla="*/ 128 w 128"/>
                  <a:gd name="T21" fmla="*/ 17 h 19"/>
                  <a:gd name="T22" fmla="*/ 128 w 128"/>
                  <a:gd name="T23" fmla="*/ 2 h 19"/>
                  <a:gd name="T24" fmla="*/ 126 w 128"/>
                  <a:gd name="T2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8" h="19">
                    <a:moveTo>
                      <a:pt x="126" y="0"/>
                    </a:moveTo>
                    <a:cubicBezTo>
                      <a:pt x="124" y="0"/>
                      <a:pt x="123" y="1"/>
                      <a:pt x="123" y="2"/>
                    </a:cubicBezTo>
                    <a:cubicBezTo>
                      <a:pt x="123" y="14"/>
                      <a:pt x="123" y="14"/>
                      <a:pt x="123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1"/>
                      <a:pt x="4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8"/>
                      <a:pt x="1" y="19"/>
                      <a:pt x="2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9"/>
                      <a:pt x="128" y="18"/>
                      <a:pt x="128" y="17"/>
                    </a:cubicBezTo>
                    <a:cubicBezTo>
                      <a:pt x="128" y="2"/>
                      <a:pt x="128" y="2"/>
                      <a:pt x="128" y="2"/>
                    </a:cubicBezTo>
                    <a:cubicBezTo>
                      <a:pt x="128" y="1"/>
                      <a:pt x="127" y="0"/>
                      <a:pt x="126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3" name="组合 2"/>
          <p:cNvGrpSpPr/>
          <p:nvPr>
            <p:custDataLst>
              <p:tags r:id="rId12"/>
            </p:custDataLst>
          </p:nvPr>
        </p:nvGrpSpPr>
        <p:grpSpPr>
          <a:xfrm>
            <a:off x="2981279" y="2662555"/>
            <a:ext cx="605155" cy="610235"/>
            <a:chOff x="4342" y="4172"/>
            <a:chExt cx="1606" cy="1606"/>
          </a:xfrm>
        </p:grpSpPr>
        <p:sp>
          <p:nvSpPr>
            <p:cNvPr id="32" name="椭圆 31"/>
            <p:cNvSpPr/>
            <p:nvPr>
              <p:custDataLst>
                <p:tags r:id="rId13"/>
              </p:custDataLst>
            </p:nvPr>
          </p:nvSpPr>
          <p:spPr>
            <a:xfrm>
              <a:off x="4342" y="4172"/>
              <a:ext cx="1607" cy="16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2" name="组合 41"/>
            <p:cNvGrpSpPr/>
            <p:nvPr>
              <p:custDataLst>
                <p:tags r:id="rId14"/>
              </p:custDataLst>
            </p:nvPr>
          </p:nvGrpSpPr>
          <p:grpSpPr>
            <a:xfrm>
              <a:off x="4768" y="4669"/>
              <a:ext cx="755" cy="715"/>
              <a:chOff x="568325" y="4175125"/>
              <a:chExt cx="479425" cy="454026"/>
            </a:xfrm>
            <a:solidFill>
              <a:schemeClr val="bg1"/>
            </a:solidFill>
          </p:grpSpPr>
          <p:sp>
            <p:nvSpPr>
              <p:cNvPr id="43" name="Freeform 84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642938" y="4175125"/>
                <a:ext cx="330200" cy="398463"/>
              </a:xfrm>
              <a:custGeom>
                <a:avLst/>
                <a:gdLst>
                  <a:gd name="T0" fmla="*/ 42 w 88"/>
                  <a:gd name="T1" fmla="*/ 105 h 106"/>
                  <a:gd name="T2" fmla="*/ 46 w 88"/>
                  <a:gd name="T3" fmla="*/ 105 h 106"/>
                  <a:gd name="T4" fmla="*/ 88 w 88"/>
                  <a:gd name="T5" fmla="*/ 63 h 106"/>
                  <a:gd name="T6" fmla="*/ 88 w 88"/>
                  <a:gd name="T7" fmla="*/ 62 h 106"/>
                  <a:gd name="T8" fmla="*/ 88 w 88"/>
                  <a:gd name="T9" fmla="*/ 60 h 106"/>
                  <a:gd name="T10" fmla="*/ 84 w 88"/>
                  <a:gd name="T11" fmla="*/ 60 h 106"/>
                  <a:gd name="T12" fmla="*/ 46 w 88"/>
                  <a:gd name="T13" fmla="*/ 98 h 106"/>
                  <a:gd name="T14" fmla="*/ 46 w 88"/>
                  <a:gd name="T15" fmla="*/ 3 h 106"/>
                  <a:gd name="T16" fmla="*/ 44 w 88"/>
                  <a:gd name="T17" fmla="*/ 0 h 106"/>
                  <a:gd name="T18" fmla="*/ 42 w 88"/>
                  <a:gd name="T19" fmla="*/ 3 h 106"/>
                  <a:gd name="T20" fmla="*/ 42 w 88"/>
                  <a:gd name="T21" fmla="*/ 98 h 106"/>
                  <a:gd name="T22" fmla="*/ 4 w 88"/>
                  <a:gd name="T23" fmla="*/ 60 h 106"/>
                  <a:gd name="T24" fmla="*/ 2 w 88"/>
                  <a:gd name="T25" fmla="*/ 60 h 106"/>
                  <a:gd name="T26" fmla="*/ 0 w 88"/>
                  <a:gd name="T27" fmla="*/ 60 h 106"/>
                  <a:gd name="T28" fmla="*/ 0 w 88"/>
                  <a:gd name="T29" fmla="*/ 62 h 106"/>
                  <a:gd name="T30" fmla="*/ 0 w 88"/>
                  <a:gd name="T31" fmla="*/ 63 h 106"/>
                  <a:gd name="T32" fmla="*/ 42 w 88"/>
                  <a:gd name="T33" fmla="*/ 10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8" h="106">
                    <a:moveTo>
                      <a:pt x="42" y="105"/>
                    </a:moveTo>
                    <a:cubicBezTo>
                      <a:pt x="43" y="106"/>
                      <a:pt x="45" y="106"/>
                      <a:pt x="46" y="105"/>
                    </a:cubicBezTo>
                    <a:cubicBezTo>
                      <a:pt x="88" y="63"/>
                      <a:pt x="88" y="63"/>
                      <a:pt x="88" y="63"/>
                    </a:cubicBezTo>
                    <a:cubicBezTo>
                      <a:pt x="88" y="63"/>
                      <a:pt x="88" y="62"/>
                      <a:pt x="88" y="62"/>
                    </a:cubicBezTo>
                    <a:cubicBezTo>
                      <a:pt x="88" y="61"/>
                      <a:pt x="88" y="61"/>
                      <a:pt x="88" y="60"/>
                    </a:cubicBezTo>
                    <a:cubicBezTo>
                      <a:pt x="87" y="59"/>
                      <a:pt x="85" y="59"/>
                      <a:pt x="84" y="60"/>
                    </a:cubicBezTo>
                    <a:cubicBezTo>
                      <a:pt x="46" y="98"/>
                      <a:pt x="46" y="98"/>
                      <a:pt x="46" y="98"/>
                    </a:cubicBezTo>
                    <a:cubicBezTo>
                      <a:pt x="46" y="3"/>
                      <a:pt x="46" y="3"/>
                      <a:pt x="46" y="3"/>
                    </a:cubicBezTo>
                    <a:cubicBezTo>
                      <a:pt x="46" y="1"/>
                      <a:pt x="45" y="0"/>
                      <a:pt x="44" y="0"/>
                    </a:cubicBezTo>
                    <a:cubicBezTo>
                      <a:pt x="43" y="0"/>
                      <a:pt x="42" y="1"/>
                      <a:pt x="42" y="3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" y="60"/>
                      <a:pt x="4" y="60"/>
                      <a:pt x="4" y="60"/>
                    </a:cubicBezTo>
                    <a:cubicBezTo>
                      <a:pt x="3" y="60"/>
                      <a:pt x="3" y="60"/>
                      <a:pt x="2" y="60"/>
                    </a:cubicBezTo>
                    <a:cubicBezTo>
                      <a:pt x="1" y="60"/>
                      <a:pt x="1" y="60"/>
                      <a:pt x="0" y="60"/>
                    </a:cubicBezTo>
                    <a:cubicBezTo>
                      <a:pt x="0" y="61"/>
                      <a:pt x="0" y="61"/>
                      <a:pt x="0" y="62"/>
                    </a:cubicBezTo>
                    <a:cubicBezTo>
                      <a:pt x="0" y="62"/>
                      <a:pt x="0" y="63"/>
                      <a:pt x="0" y="63"/>
                    </a:cubicBezTo>
                    <a:lnTo>
                      <a:pt x="42" y="105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4" name="Freeform 85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568325" y="4557713"/>
                <a:ext cx="479425" cy="71438"/>
              </a:xfrm>
              <a:custGeom>
                <a:avLst/>
                <a:gdLst>
                  <a:gd name="T0" fmla="*/ 126 w 128"/>
                  <a:gd name="T1" fmla="*/ 0 h 19"/>
                  <a:gd name="T2" fmla="*/ 123 w 128"/>
                  <a:gd name="T3" fmla="*/ 2 h 19"/>
                  <a:gd name="T4" fmla="*/ 123 w 128"/>
                  <a:gd name="T5" fmla="*/ 14 h 19"/>
                  <a:gd name="T6" fmla="*/ 5 w 128"/>
                  <a:gd name="T7" fmla="*/ 14 h 19"/>
                  <a:gd name="T8" fmla="*/ 5 w 128"/>
                  <a:gd name="T9" fmla="*/ 2 h 19"/>
                  <a:gd name="T10" fmla="*/ 2 w 128"/>
                  <a:gd name="T11" fmla="*/ 0 h 19"/>
                  <a:gd name="T12" fmla="*/ 0 w 128"/>
                  <a:gd name="T13" fmla="*/ 2 h 19"/>
                  <a:gd name="T14" fmla="*/ 0 w 128"/>
                  <a:gd name="T15" fmla="*/ 17 h 19"/>
                  <a:gd name="T16" fmla="*/ 2 w 128"/>
                  <a:gd name="T17" fmla="*/ 19 h 19"/>
                  <a:gd name="T18" fmla="*/ 126 w 128"/>
                  <a:gd name="T19" fmla="*/ 19 h 19"/>
                  <a:gd name="T20" fmla="*/ 128 w 128"/>
                  <a:gd name="T21" fmla="*/ 17 h 19"/>
                  <a:gd name="T22" fmla="*/ 128 w 128"/>
                  <a:gd name="T23" fmla="*/ 2 h 19"/>
                  <a:gd name="T24" fmla="*/ 126 w 128"/>
                  <a:gd name="T2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8" h="19">
                    <a:moveTo>
                      <a:pt x="126" y="0"/>
                    </a:moveTo>
                    <a:cubicBezTo>
                      <a:pt x="124" y="0"/>
                      <a:pt x="123" y="1"/>
                      <a:pt x="123" y="2"/>
                    </a:cubicBezTo>
                    <a:cubicBezTo>
                      <a:pt x="123" y="14"/>
                      <a:pt x="123" y="14"/>
                      <a:pt x="123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1"/>
                      <a:pt x="4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8"/>
                      <a:pt x="1" y="19"/>
                      <a:pt x="2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9"/>
                      <a:pt x="128" y="18"/>
                      <a:pt x="128" y="17"/>
                    </a:cubicBezTo>
                    <a:cubicBezTo>
                      <a:pt x="128" y="2"/>
                      <a:pt x="128" y="2"/>
                      <a:pt x="128" y="2"/>
                    </a:cubicBezTo>
                    <a:cubicBezTo>
                      <a:pt x="128" y="1"/>
                      <a:pt x="127" y="0"/>
                      <a:pt x="126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45" name="文本框 4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1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4227544" y="4283909"/>
            <a:ext cx="3660158" cy="782043"/>
            <a:chOff x="5181690" y="2820871"/>
            <a:chExt cx="2578318" cy="550893"/>
          </a:xfrm>
        </p:grpSpPr>
        <p:sp>
          <p:nvSpPr>
            <p:cNvPr id="4" name="椭圆 3"/>
            <p:cNvSpPr/>
            <p:nvPr/>
          </p:nvSpPr>
          <p:spPr>
            <a:xfrm>
              <a:off x="5181690" y="2820871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dirty="0">
                  <a:latin typeface="Century Gothic" panose="020B0502020202020204" pitchFamily="34" charset="0"/>
                </a:rPr>
                <a:t>2</a:t>
              </a:r>
              <a:endParaRPr lang="en-US" altLang="zh-CN" sz="4400" dirty="0">
                <a:latin typeface="Century Gothic" panose="020B0502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988604" y="2888229"/>
              <a:ext cx="1771404" cy="3900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3600" b="1" spc="300" dirty="0">
                  <a:latin typeface="+mj-ea"/>
                  <a:ea typeface="+mj-ea"/>
                </a:rPr>
                <a:t>数据</a:t>
              </a:r>
              <a:r>
                <a:rPr lang="zh-CN" altLang="en-US" sz="3600" b="1" spc="300" dirty="0">
                  <a:latin typeface="+mj-ea"/>
                  <a:ea typeface="+mj-ea"/>
                </a:rPr>
                <a:t>介绍</a:t>
              </a:r>
              <a:endParaRPr lang="zh-CN" altLang="en-US" sz="3600" b="1" spc="300" dirty="0"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zh-CN" altLang="en-US" dirty="0"/>
              <a:t>数据来源与规模</a:t>
            </a:r>
            <a:endParaRPr lang="zh-CN" altLang="en-US" dirty="0"/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660400" y="1439545"/>
            <a:ext cx="2360295" cy="619760"/>
          </a:xfrm>
          <a:prstGeom prst="roundRect">
            <a:avLst/>
          </a:prstGeom>
          <a:solidFill>
            <a:schemeClr val="accent1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数据来源</a:t>
            </a:r>
            <a:endParaRPr kumimoji="0" lang="zh-CN" altLang="en-US" sz="2800" b="1" i="0" u="none" strike="noStrike" kern="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660400" y="3905885"/>
            <a:ext cx="2360295" cy="619760"/>
          </a:xfrm>
          <a:prstGeom prst="roundRect">
            <a:avLst/>
          </a:prstGeom>
          <a:solidFill>
            <a:schemeClr val="accent4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数据规模</a:t>
            </a:r>
            <a:endParaRPr kumimoji="0" lang="zh-CN" altLang="en-US" sz="2800" b="1" i="0" u="none" strike="noStrike" kern="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660400" y="2142941"/>
            <a:ext cx="10858500" cy="1600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纽约市出租车与豪华轿车委员会（</a:t>
            </a:r>
            <a:r>
              <a:rPr lang="en-US" altLang="zh-CN" sz="2000" b="1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NYC TLC）</a:t>
            </a:r>
            <a:endParaRPr lang="en-US" altLang="zh-CN" sz="2000" b="1" spc="3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数据类型：高运量网约车行程数据（</a:t>
            </a:r>
            <a:r>
              <a:rPr lang="en-US" altLang="zh-CN" sz="2000" b="1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FHVHV）</a:t>
            </a:r>
            <a:endParaRPr lang="en-US" altLang="zh-CN" sz="2000" b="1" spc="3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数据时间：2026年3月</a:t>
            </a:r>
            <a:endParaRPr lang="zh-CN" altLang="en-US" sz="2000" b="1" spc="3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预测目标：基础乘客费用 </a:t>
            </a:r>
            <a:r>
              <a:rPr lang="en-US" altLang="zh-CN" sz="2000" b="1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base_passenger_fare</a:t>
            </a:r>
            <a:endParaRPr lang="en-US" altLang="zh-CN" sz="2000" b="1" spc="3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687832" y="4525462"/>
            <a:ext cx="10858500" cy="1200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月行程：约 2200万条</a:t>
            </a:r>
            <a:endParaRPr lang="zh-CN" altLang="en-US" sz="2000" b="1" spc="3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数据内容：时间、区域、距离、费用、平台等</a:t>
            </a:r>
            <a:endParaRPr lang="zh-CN" altLang="en-US" sz="2000" b="1" spc="3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主要平台：</a:t>
            </a:r>
            <a:r>
              <a:rPr lang="en-US" altLang="zh-CN" sz="2000" b="1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Uber、Lyft </a:t>
            </a:r>
            <a:r>
              <a:rPr lang="zh-CN" altLang="en-US" sz="2000" b="1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zh-CN" altLang="en-US" sz="2000" b="1" spc="3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5"/>
          <a:stretch>
            <a:fillRect/>
          </a:stretch>
        </p:blipFill>
        <p:spPr>
          <a:xfrm>
            <a:off x="7851140" y="1564005"/>
            <a:ext cx="3390900" cy="2827020"/>
          </a:xfrm>
          <a:prstGeom prst="rect">
            <a:avLst/>
          </a:prstGeom>
        </p:spPr>
      </p:pic>
      <p:sp>
        <p:nvSpPr>
          <p:cNvPr id="4" name="对角圆角矩形 3"/>
          <p:cNvSpPr/>
          <p:nvPr/>
        </p:nvSpPr>
        <p:spPr>
          <a:xfrm>
            <a:off x="7851140" y="4617720"/>
            <a:ext cx="3390900" cy="983615"/>
          </a:xfrm>
          <a:prstGeom prst="round2Diag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 xml:space="preserve">2200万+      </a:t>
            </a:r>
            <a:endParaRPr lang="zh-CN" altLang="en-US"/>
          </a:p>
          <a:p>
            <a:pPr algn="ctr"/>
            <a:r>
              <a:rPr lang="zh-CN" altLang="en-US"/>
              <a:t xml:space="preserve"> 多维特征 </a:t>
            </a:r>
            <a:r>
              <a:rPr lang="en-US" altLang="zh-CN"/>
              <a:t xml:space="preserve"> </a:t>
            </a:r>
            <a:r>
              <a:rPr lang="zh-CN" altLang="en-US"/>
              <a:t xml:space="preserve">    行程与费用      真实业务数据</a:t>
            </a:r>
            <a:endParaRPr lang="zh-CN" altLang="en-US"/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zh-CN" altLang="en-US" dirty="0"/>
              <a:t>核心挑战与数据审计</a:t>
            </a:r>
            <a:endParaRPr lang="zh-CN" altLang="en-US" dirty="0"/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660400" y="1099820"/>
            <a:ext cx="2360295" cy="619760"/>
          </a:xfrm>
          <a:prstGeom prst="roundRect">
            <a:avLst/>
          </a:prstGeom>
          <a:solidFill>
            <a:schemeClr val="accent1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核心挑战</a:t>
            </a:r>
            <a:endParaRPr kumimoji="0" lang="zh-CN" altLang="en-US" sz="2800" b="1" i="0" u="none" strike="noStrike" kern="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660400" y="3505200"/>
            <a:ext cx="2494915" cy="619760"/>
          </a:xfrm>
          <a:prstGeom prst="roundRect">
            <a:avLst/>
          </a:prstGeom>
          <a:solidFill>
            <a:schemeClr val="accent4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数据审计摘要</a:t>
            </a:r>
            <a:endParaRPr kumimoji="0" lang="zh-CN" altLang="en-US" sz="2800" b="1" i="0" u="none" strike="noStrike" kern="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660400" y="1812106"/>
            <a:ext cx="10858500" cy="2000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数据规模庞大：单月超过 2200万条行程</a:t>
            </a:r>
            <a:endParaRPr lang="zh-CN" altLang="en-US" sz="2000" b="1" spc="3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费用关系复杂：车费受距离、时长、区域和时段等因素共同影响</a:t>
            </a:r>
            <a:endParaRPr lang="zh-CN" altLang="en-US" sz="2000" b="1" spc="3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异常记录干扰：部分行程存在异常速度、时间冲突和费用异常</a:t>
            </a:r>
            <a:endParaRPr lang="zh-CN" altLang="en-US" sz="2000" b="1" spc="3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长尾费用难预测：模型容易低估极高费用、高估特殊短途订单</a:t>
            </a:r>
            <a:endParaRPr lang="zh-CN" altLang="en-US" sz="2000" b="1" spc="3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spc="3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4"/>
            </p:custDataLst>
          </p:nvPr>
        </p:nvGraphicFramePr>
        <p:xfrm>
          <a:off x="660400" y="4217670"/>
          <a:ext cx="660019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180"/>
                <a:gridCol w="1160145"/>
                <a:gridCol w="3872865"/>
              </a:tblGrid>
              <a:tr h="36576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审计项目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审计结果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对车费预测的影响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ctr" anchorCtr="0"/>
                </a:tc>
              </a:tr>
              <a:tr h="36576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规则冲突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3.03%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时间、速度等信息不一致，干扰模型学习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</a:tr>
              <a:tr h="36576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弱监督不一致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17.17%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车费与距离、时长等特征明显不一致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</a:tr>
              <a:tr h="36576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疑似异常记录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18.51%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可能增大预测误差，需进一步验证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</a:tr>
              <a:tr h="36576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周内时间漂移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较弱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当前影响有限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1730" y="3595370"/>
            <a:ext cx="4337050" cy="245110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zh-CN" altLang="en-US" dirty="0"/>
              <a:t>数据治理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711835" y="1263015"/>
            <a:ext cx="10767695" cy="800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457200" eaLnBrk="1">
              <a:lnSpc>
                <a:spcPct val="130000"/>
              </a:lnSpc>
            </a:pPr>
            <a:r>
              <a:rPr lang="zh-CN" altLang="en-US" sz="2000" b="1" spc="300" dirty="0"/>
              <a:t>本项目采用“检测、修复、标记、稳健化”的分层治理策略：可修复的数据优先修复，无法可靠修复的数据保留异常标记，并通过稳健特征降低其对模型的影响。</a:t>
            </a:r>
            <a:endParaRPr lang="zh-CN" altLang="en-US" sz="2000" b="1" spc="300" dirty="0"/>
          </a:p>
        </p:txBody>
      </p:sp>
      <p:sp>
        <p:nvSpPr>
          <p:cNvPr id="45" name="文本框 4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711835" y="2586355"/>
          <a:ext cx="8532495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140"/>
                <a:gridCol w="3460750"/>
                <a:gridCol w="3697605"/>
              </a:tblGrid>
              <a:tr h="38100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数据问题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检测方法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治理方法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ctr" anchorCtr="0"/>
                </a:tc>
              </a:tr>
              <a:tr h="38100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非法负值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检查里程、时长和费用是否小于</a:t>
                      </a:r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0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置为空值，添加异常标记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</a:tr>
              <a:tr h="38100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时间不一致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对比记录时长与上下车时间差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优先使用时间戳计算的合理时长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</a:tr>
              <a:tr h="38100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异常速度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检查速度是否低于</a:t>
                      </a:r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1</a:t>
                      </a: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或高于</a:t>
                      </a:r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80 mph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重新计算速度；无法修复则使用缩尾值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</a:tr>
              <a:tr h="38100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特征缺失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检查关键特征缺失情况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使用训练集分组中位数补全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</a:tr>
              <a:tr h="38100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极端数值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使用训练集分位数识别长尾值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生成缩尾特征，保留原始值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</a:tr>
              <a:tr h="38100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疑似重复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根据平台、时间和区域识别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保留首条记录，其余记录标记或剔除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5160" y="2120900"/>
            <a:ext cx="2003425" cy="397510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zh-CN" altLang="en-US" dirty="0"/>
              <a:t>数据治理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711835" y="1263015"/>
            <a:ext cx="10767695" cy="4000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457200" eaLnBrk="1">
              <a:lnSpc>
                <a:spcPct val="130000"/>
              </a:lnSpc>
            </a:pPr>
            <a:r>
              <a:rPr lang="zh-CN" altLang="en-US" sz="2000" b="1" spc="300" dirty="0"/>
              <a:t>验证数据治理是否能够提高车费预测性能</a:t>
            </a:r>
            <a:endParaRPr lang="zh-CN" altLang="en-US" sz="2000" b="1" spc="300" dirty="0"/>
          </a:p>
        </p:txBody>
      </p:sp>
      <p:sp>
        <p:nvSpPr>
          <p:cNvPr id="45" name="文本框 4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083310" y="1949450"/>
          <a:ext cx="739902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140"/>
                <a:gridCol w="3460750"/>
                <a:gridCol w="2564130"/>
              </a:tblGrid>
              <a:tr h="38100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实验策略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处理方式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对比目的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ctr" anchorCtr="0"/>
                </a:tc>
              </a:tr>
              <a:tr h="38100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A</a:t>
                      </a: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：原始数据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仅进行模型运行所需的基础格式转换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判断数据治理是否有价值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</a:tr>
              <a:tr h="38100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B</a:t>
                      </a: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：直接删除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删除缺失、非法或异常记录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评估传统清洗方法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</a:tr>
              <a:tr h="38100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C</a:t>
                      </a: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：数据治理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修复、标记、补全与缩尾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评估保留信息的治理方法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/>
        </p:nvGraphicFramePr>
        <p:xfrm>
          <a:off x="1083310" y="4367530"/>
          <a:ext cx="427736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690"/>
                <a:gridCol w="1353185"/>
                <a:gridCol w="1213485"/>
              </a:tblGrid>
              <a:tr h="38100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策略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RMSE ↓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MAE ↓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ctr" anchorCtr="0"/>
                </a:tc>
              </a:tr>
              <a:tr h="38100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原始数据基准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8.6211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4.7015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</a:tr>
              <a:tr h="38100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直接删除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8.6570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4.7044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</a:tr>
              <a:tr h="381000"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数据治理</a:t>
                      </a:r>
                      <a:endParaRPr lang="zh-CN" altLang="en-US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8.6181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4.6993</a:t>
                      </a:r>
                      <a:endParaRPr lang="en-US" altLang="zh-CN" sz="16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38417" marR="38417" marT="38417" marB="38417" anchor="t" anchorCtr="0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716905" y="4542790"/>
            <a:ext cx="52660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b="1"/>
              <a:t>当前治理未显著提升预测精度，但验证了保守治理不会降低模型性能，并能保留数据质量标记与审计能力。治理价值主要体现在可追溯性和风险控制，而非短期精度提升。</a:t>
            </a:r>
            <a:endParaRPr lang="zh-CN" altLang="en-US" b="1"/>
          </a:p>
        </p:txBody>
      </p:sp>
      <p:sp>
        <p:nvSpPr>
          <p:cNvPr id="7" name="文本框 6"/>
          <p:cNvSpPr txBox="1"/>
          <p:nvPr/>
        </p:nvSpPr>
        <p:spPr>
          <a:xfrm>
            <a:off x="754380" y="3759835"/>
            <a:ext cx="10767695" cy="4000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457200" eaLnBrk="1">
              <a:lnSpc>
                <a:spcPct val="130000"/>
              </a:lnSpc>
            </a:pPr>
            <a:r>
              <a:rPr lang="zh-CN" altLang="en-US" sz="2000" b="1" spc="300" dirty="0"/>
              <a:t>实验结果：使用直方图梯度提升回归模型进行简单</a:t>
            </a:r>
            <a:r>
              <a:rPr lang="zh-CN" altLang="en-US" sz="2000" b="1" spc="300" dirty="0"/>
              <a:t>预测</a:t>
            </a:r>
            <a:endParaRPr lang="zh-CN" altLang="en-US" sz="2000" b="1" spc="300" dirty="0"/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4227544" y="4283909"/>
            <a:ext cx="3660158" cy="782043"/>
            <a:chOff x="5181690" y="2820871"/>
            <a:chExt cx="2578318" cy="550893"/>
          </a:xfrm>
        </p:grpSpPr>
        <p:sp>
          <p:nvSpPr>
            <p:cNvPr id="4" name="椭圆 3"/>
            <p:cNvSpPr/>
            <p:nvPr/>
          </p:nvSpPr>
          <p:spPr>
            <a:xfrm>
              <a:off x="5181690" y="2820871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dirty="0">
                  <a:latin typeface="Century Gothic" panose="020B0502020202020204" pitchFamily="34" charset="0"/>
                </a:rPr>
                <a:t>3</a:t>
              </a:r>
              <a:endParaRPr lang="en-US" altLang="zh-CN" sz="4400" dirty="0">
                <a:latin typeface="Century Gothic" panose="020B0502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988604" y="2888229"/>
              <a:ext cx="1771404" cy="3900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3600" b="1" spc="300" dirty="0">
                  <a:latin typeface="+mj-ea"/>
                  <a:ea typeface="+mj-ea"/>
                </a:rPr>
                <a:t>技术方案</a:t>
              </a:r>
              <a:endParaRPr lang="zh-CN" altLang="en-US" sz="3600" b="1" spc="300" dirty="0"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zh-CN" altLang="en-US" dirty="0"/>
              <a:t>统一预处理</a:t>
            </a:r>
            <a:endParaRPr lang="zh-CN" altLang="en-US" dirty="0"/>
          </a:p>
        </p:txBody>
      </p:sp>
      <p:sp>
        <p:nvSpPr>
          <p:cNvPr id="32" name="矩形 31"/>
          <p:cNvSpPr/>
          <p:nvPr>
            <p:custDataLst>
              <p:tags r:id="rId1"/>
            </p:custDataLst>
          </p:nvPr>
        </p:nvSpPr>
        <p:spPr>
          <a:xfrm>
            <a:off x="829851" y="1236220"/>
            <a:ext cx="5195669" cy="2232000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矩形 32"/>
          <p:cNvSpPr/>
          <p:nvPr>
            <p:custDataLst>
              <p:tags r:id="rId2"/>
            </p:custDataLst>
          </p:nvPr>
        </p:nvSpPr>
        <p:spPr>
          <a:xfrm>
            <a:off x="829850" y="3598525"/>
            <a:ext cx="5195670" cy="2232000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矩形 33"/>
          <p:cNvSpPr/>
          <p:nvPr>
            <p:custDataLst>
              <p:tags r:id="rId3"/>
            </p:custDataLst>
          </p:nvPr>
        </p:nvSpPr>
        <p:spPr>
          <a:xfrm>
            <a:off x="6182079" y="1236220"/>
            <a:ext cx="5195669" cy="2232000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矩形 34"/>
          <p:cNvSpPr/>
          <p:nvPr>
            <p:custDataLst>
              <p:tags r:id="rId4"/>
            </p:custDataLst>
          </p:nvPr>
        </p:nvSpPr>
        <p:spPr>
          <a:xfrm>
            <a:off x="6182079" y="3598525"/>
            <a:ext cx="5195668" cy="2232000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文本框 35"/>
          <p:cNvSpPr txBox="1"/>
          <p:nvPr>
            <p:custDataLst>
              <p:tags r:id="rId5"/>
            </p:custDataLst>
          </p:nvPr>
        </p:nvSpPr>
        <p:spPr>
          <a:xfrm>
            <a:off x="1677675" y="1459318"/>
            <a:ext cx="35000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sz="4000" b="1" spc="3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目标列处理</a:t>
            </a:r>
            <a:endParaRPr lang="zh-CN" sz="4000" b="1" spc="300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6"/>
            </p:custDataLst>
          </p:nvPr>
        </p:nvSpPr>
        <p:spPr>
          <a:xfrm>
            <a:off x="1677675" y="3817720"/>
            <a:ext cx="34992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spc="3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类别特征处理</a:t>
            </a:r>
            <a:endParaRPr lang="zh-CN" altLang="en-US" sz="4000" b="1" spc="300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7"/>
            </p:custDataLst>
          </p:nvPr>
        </p:nvSpPr>
        <p:spPr>
          <a:xfrm>
            <a:off x="7030313" y="1459318"/>
            <a:ext cx="34992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spc="3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时间特征处理</a:t>
            </a:r>
            <a:endParaRPr lang="zh-CN" altLang="en-US" sz="4000" b="1" spc="300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8"/>
            </p:custDataLst>
          </p:nvPr>
        </p:nvSpPr>
        <p:spPr>
          <a:xfrm>
            <a:off x="7030313" y="3817345"/>
            <a:ext cx="34992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spc="3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数值特征处理</a:t>
            </a:r>
            <a:endParaRPr lang="zh-CN" altLang="en-US" sz="4000" b="1" spc="300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9"/>
            </p:custDataLst>
          </p:nvPr>
        </p:nvSpPr>
        <p:spPr>
          <a:xfrm>
            <a:off x="1199262" y="2255646"/>
            <a:ext cx="4480435" cy="1078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z="14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训练目标为</a:t>
            </a:r>
            <a:r>
              <a:rPr lang="en-US" altLang="zh-CN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base_passenger_fare</a:t>
            </a:r>
            <a:r>
              <a:rPr lang="zh-CN" altLang="en-US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，若训练集中该列为空或小于 0，则删除该训练样本，避免脏标签影响模型。</a:t>
            </a:r>
            <a:endParaRPr lang="zh-CN" altLang="en-US" sz="1800" b="1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0"/>
            </p:custDataLst>
          </p:nvPr>
        </p:nvSpPr>
        <p:spPr>
          <a:xfrm>
            <a:off x="1199263" y="4615317"/>
            <a:ext cx="4480435" cy="1078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z="14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类别字段会进行 </a:t>
            </a:r>
            <a:r>
              <a:rPr lang="en-US" altLang="zh-CN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one-hot </a:t>
            </a:r>
            <a:r>
              <a:rPr lang="zh-CN" altLang="en-US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编码，若为空则会填充为 "</a:t>
            </a:r>
            <a:r>
              <a:rPr lang="en-US" altLang="zh-CN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missing"</a:t>
            </a:r>
            <a:r>
              <a:rPr lang="zh-CN" altLang="en-US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，作为一个单独类别参与编码。</a:t>
            </a:r>
            <a:endParaRPr lang="zh-CN" altLang="en-US" sz="1800" b="1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1"/>
            </p:custDataLst>
          </p:nvPr>
        </p:nvSpPr>
        <p:spPr>
          <a:xfrm>
            <a:off x="6527521" y="2255646"/>
            <a:ext cx="4480435" cy="1078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z="14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原始时间字段不会直接作为字符串输入模型，而是转化为时间特征</a:t>
            </a:r>
            <a:r>
              <a:rPr lang="en-US" altLang="zh-CN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hour</a:t>
            </a:r>
            <a:r>
              <a:rPr lang="zh-CN" altLang="en-US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</a:t>
            </a:r>
            <a:r>
              <a:rPr lang="zh-CN" altLang="en-US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month</a:t>
            </a:r>
            <a:r>
              <a:rPr lang="zh-CN" altLang="en-US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等，并构造时间差特征。</a:t>
            </a:r>
            <a:endParaRPr lang="zh-CN" altLang="en-US" sz="1800" b="1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12"/>
            </p:custDataLst>
          </p:nvPr>
        </p:nvSpPr>
        <p:spPr>
          <a:xfrm>
            <a:off x="6527522" y="4615317"/>
            <a:ext cx="4480435" cy="7188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z="14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数值型字段会直接进入模型，缺失值或无法转换为数值的值最终填充为0。</a:t>
            </a:r>
            <a:endParaRPr lang="zh-CN" altLang="en-US" sz="1800" b="1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4" name="组合 43"/>
          <p:cNvGrpSpPr/>
          <p:nvPr>
            <p:custDataLst>
              <p:tags r:id="rId13"/>
            </p:custDataLst>
          </p:nvPr>
        </p:nvGrpSpPr>
        <p:grpSpPr>
          <a:xfrm>
            <a:off x="10818521" y="3722761"/>
            <a:ext cx="468000" cy="468000"/>
            <a:chOff x="568325" y="5118109"/>
            <a:chExt cx="479425" cy="479426"/>
          </a:xfrm>
          <a:solidFill>
            <a:schemeClr val="accent4"/>
          </a:solidFill>
        </p:grpSpPr>
        <p:sp>
          <p:nvSpPr>
            <p:cNvPr id="53" name="Freeform 48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68325" y="5118109"/>
              <a:ext cx="479425" cy="479426"/>
            </a:xfrm>
            <a:custGeom>
              <a:avLst/>
              <a:gdLst>
                <a:gd name="T0" fmla="*/ 116 w 128"/>
                <a:gd name="T1" fmla="*/ 77 h 128"/>
                <a:gd name="T2" fmla="*/ 128 w 128"/>
                <a:gd name="T3" fmla="*/ 50 h 128"/>
                <a:gd name="T4" fmla="*/ 116 w 128"/>
                <a:gd name="T5" fmla="*/ 49 h 128"/>
                <a:gd name="T6" fmla="*/ 111 w 128"/>
                <a:gd name="T7" fmla="*/ 36 h 128"/>
                <a:gd name="T8" fmla="*/ 100 w 128"/>
                <a:gd name="T9" fmla="*/ 9 h 128"/>
                <a:gd name="T10" fmla="*/ 91 w 128"/>
                <a:gd name="T11" fmla="*/ 16 h 128"/>
                <a:gd name="T12" fmla="*/ 77 w 128"/>
                <a:gd name="T13" fmla="*/ 11 h 128"/>
                <a:gd name="T14" fmla="*/ 51 w 128"/>
                <a:gd name="T15" fmla="*/ 0 h 128"/>
                <a:gd name="T16" fmla="*/ 50 w 128"/>
                <a:gd name="T17" fmla="*/ 11 h 128"/>
                <a:gd name="T18" fmla="*/ 36 w 128"/>
                <a:gd name="T19" fmla="*/ 17 h 128"/>
                <a:gd name="T20" fmla="*/ 9 w 128"/>
                <a:gd name="T21" fmla="*/ 28 h 128"/>
                <a:gd name="T22" fmla="*/ 17 w 128"/>
                <a:gd name="T23" fmla="*/ 37 h 128"/>
                <a:gd name="T24" fmla="*/ 11 w 128"/>
                <a:gd name="T25" fmla="*/ 50 h 128"/>
                <a:gd name="T26" fmla="*/ 0 w 128"/>
                <a:gd name="T27" fmla="*/ 77 h 128"/>
                <a:gd name="T28" fmla="*/ 12 w 128"/>
                <a:gd name="T29" fmla="*/ 78 h 128"/>
                <a:gd name="T30" fmla="*/ 17 w 128"/>
                <a:gd name="T31" fmla="*/ 91 h 128"/>
                <a:gd name="T32" fmla="*/ 28 w 128"/>
                <a:gd name="T33" fmla="*/ 118 h 128"/>
                <a:gd name="T34" fmla="*/ 37 w 128"/>
                <a:gd name="T35" fmla="*/ 111 h 128"/>
                <a:gd name="T36" fmla="*/ 51 w 128"/>
                <a:gd name="T37" fmla="*/ 116 h 128"/>
                <a:gd name="T38" fmla="*/ 77 w 128"/>
                <a:gd name="T39" fmla="*/ 128 h 128"/>
                <a:gd name="T40" fmla="*/ 78 w 128"/>
                <a:gd name="T41" fmla="*/ 116 h 128"/>
                <a:gd name="T42" fmla="*/ 92 w 128"/>
                <a:gd name="T43" fmla="*/ 110 h 128"/>
                <a:gd name="T44" fmla="*/ 119 w 128"/>
                <a:gd name="T45" fmla="*/ 99 h 128"/>
                <a:gd name="T46" fmla="*/ 111 w 128"/>
                <a:gd name="T47" fmla="*/ 90 h 128"/>
                <a:gd name="T48" fmla="*/ 112 w 128"/>
                <a:gd name="T49" fmla="*/ 99 h 128"/>
                <a:gd name="T50" fmla="*/ 92 w 128"/>
                <a:gd name="T51" fmla="*/ 105 h 128"/>
                <a:gd name="T52" fmla="*/ 77 w 128"/>
                <a:gd name="T53" fmla="*/ 111 h 128"/>
                <a:gd name="T54" fmla="*/ 73 w 128"/>
                <a:gd name="T55" fmla="*/ 123 h 128"/>
                <a:gd name="T56" fmla="*/ 55 w 128"/>
                <a:gd name="T57" fmla="*/ 113 h 128"/>
                <a:gd name="T58" fmla="*/ 40 w 128"/>
                <a:gd name="T59" fmla="*/ 107 h 128"/>
                <a:gd name="T60" fmla="*/ 28 w 128"/>
                <a:gd name="T61" fmla="*/ 112 h 128"/>
                <a:gd name="T62" fmla="*/ 23 w 128"/>
                <a:gd name="T63" fmla="*/ 92 h 128"/>
                <a:gd name="T64" fmla="*/ 16 w 128"/>
                <a:gd name="T65" fmla="*/ 77 h 128"/>
                <a:gd name="T66" fmla="*/ 5 w 128"/>
                <a:gd name="T67" fmla="*/ 72 h 128"/>
                <a:gd name="T68" fmla="*/ 15 w 128"/>
                <a:gd name="T69" fmla="*/ 55 h 128"/>
                <a:gd name="T70" fmla="*/ 21 w 128"/>
                <a:gd name="T71" fmla="*/ 39 h 128"/>
                <a:gd name="T72" fmla="*/ 16 w 128"/>
                <a:gd name="T73" fmla="*/ 28 h 128"/>
                <a:gd name="T74" fmla="*/ 36 w 128"/>
                <a:gd name="T75" fmla="*/ 23 h 128"/>
                <a:gd name="T76" fmla="*/ 51 w 128"/>
                <a:gd name="T77" fmla="*/ 16 h 128"/>
                <a:gd name="T78" fmla="*/ 55 w 128"/>
                <a:gd name="T79" fmla="*/ 4 h 128"/>
                <a:gd name="T80" fmla="*/ 73 w 128"/>
                <a:gd name="T81" fmla="*/ 15 h 128"/>
                <a:gd name="T82" fmla="*/ 88 w 128"/>
                <a:gd name="T83" fmla="*/ 20 h 128"/>
                <a:gd name="T84" fmla="*/ 100 w 128"/>
                <a:gd name="T85" fmla="*/ 15 h 128"/>
                <a:gd name="T86" fmla="*/ 105 w 128"/>
                <a:gd name="T87" fmla="*/ 35 h 128"/>
                <a:gd name="T88" fmla="*/ 112 w 128"/>
                <a:gd name="T89" fmla="*/ 50 h 128"/>
                <a:gd name="T90" fmla="*/ 123 w 128"/>
                <a:gd name="T91" fmla="*/ 55 h 128"/>
                <a:gd name="T92" fmla="*/ 113 w 128"/>
                <a:gd name="T93" fmla="*/ 72 h 128"/>
                <a:gd name="T94" fmla="*/ 107 w 128"/>
                <a:gd name="T95" fmla="*/ 88 h 128"/>
                <a:gd name="T96" fmla="*/ 112 w 128"/>
                <a:gd name="T97" fmla="*/ 99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8" h="128">
                  <a:moveTo>
                    <a:pt x="116" y="78"/>
                  </a:moveTo>
                  <a:cubicBezTo>
                    <a:pt x="116" y="77"/>
                    <a:pt x="116" y="77"/>
                    <a:pt x="116" y="77"/>
                  </a:cubicBezTo>
                  <a:cubicBezTo>
                    <a:pt x="128" y="77"/>
                    <a:pt x="128" y="77"/>
                    <a:pt x="128" y="77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5" y="45"/>
                    <a:pt x="113" y="41"/>
                    <a:pt x="111" y="37"/>
                  </a:cubicBezTo>
                  <a:cubicBezTo>
                    <a:pt x="111" y="36"/>
                    <a:pt x="111" y="36"/>
                    <a:pt x="111" y="36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00" y="9"/>
                    <a:pt x="100" y="9"/>
                    <a:pt x="100" y="9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7" y="14"/>
                    <a:pt x="83" y="13"/>
                    <a:pt x="78" y="11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45" y="13"/>
                    <a:pt x="41" y="14"/>
                    <a:pt x="37" y="16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5" y="41"/>
                    <a:pt x="13" y="45"/>
                    <a:pt x="12" y="49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11" y="77"/>
                    <a:pt x="11" y="77"/>
                    <a:pt x="11" y="77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3" y="82"/>
                    <a:pt x="15" y="86"/>
                    <a:pt x="17" y="9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28" y="118"/>
                    <a:pt x="28" y="118"/>
                    <a:pt x="28" y="118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7" y="111"/>
                    <a:pt x="37" y="111"/>
                    <a:pt x="37" y="111"/>
                  </a:cubicBezTo>
                  <a:cubicBezTo>
                    <a:pt x="41" y="113"/>
                    <a:pt x="45" y="115"/>
                    <a:pt x="50" y="116"/>
                  </a:cubicBezTo>
                  <a:cubicBezTo>
                    <a:pt x="51" y="116"/>
                    <a:pt x="51" y="116"/>
                    <a:pt x="51" y="116"/>
                  </a:cubicBezTo>
                  <a:cubicBezTo>
                    <a:pt x="51" y="128"/>
                    <a:pt x="51" y="128"/>
                    <a:pt x="51" y="128"/>
                  </a:cubicBezTo>
                  <a:cubicBezTo>
                    <a:pt x="77" y="128"/>
                    <a:pt x="77" y="128"/>
                    <a:pt x="77" y="128"/>
                  </a:cubicBezTo>
                  <a:cubicBezTo>
                    <a:pt x="77" y="116"/>
                    <a:pt x="77" y="116"/>
                    <a:pt x="77" y="116"/>
                  </a:cubicBezTo>
                  <a:cubicBezTo>
                    <a:pt x="78" y="116"/>
                    <a:pt x="78" y="116"/>
                    <a:pt x="78" y="116"/>
                  </a:cubicBezTo>
                  <a:cubicBezTo>
                    <a:pt x="83" y="115"/>
                    <a:pt x="87" y="113"/>
                    <a:pt x="91" y="111"/>
                  </a:cubicBezTo>
                  <a:cubicBezTo>
                    <a:pt x="92" y="110"/>
                    <a:pt x="92" y="110"/>
                    <a:pt x="92" y="110"/>
                  </a:cubicBezTo>
                  <a:cubicBezTo>
                    <a:pt x="100" y="118"/>
                    <a:pt x="100" y="118"/>
                    <a:pt x="100" y="118"/>
                  </a:cubicBezTo>
                  <a:cubicBezTo>
                    <a:pt x="119" y="99"/>
                    <a:pt x="119" y="99"/>
                    <a:pt x="119" y="99"/>
                  </a:cubicBezTo>
                  <a:cubicBezTo>
                    <a:pt x="111" y="91"/>
                    <a:pt x="111" y="91"/>
                    <a:pt x="111" y="91"/>
                  </a:cubicBezTo>
                  <a:cubicBezTo>
                    <a:pt x="111" y="90"/>
                    <a:pt x="111" y="90"/>
                    <a:pt x="111" y="90"/>
                  </a:cubicBezTo>
                  <a:cubicBezTo>
                    <a:pt x="113" y="86"/>
                    <a:pt x="115" y="82"/>
                    <a:pt x="116" y="78"/>
                  </a:cubicBezTo>
                  <a:close/>
                  <a:moveTo>
                    <a:pt x="112" y="99"/>
                  </a:moveTo>
                  <a:cubicBezTo>
                    <a:pt x="100" y="112"/>
                    <a:pt x="100" y="112"/>
                    <a:pt x="100" y="112"/>
                  </a:cubicBezTo>
                  <a:cubicBezTo>
                    <a:pt x="92" y="105"/>
                    <a:pt x="92" y="105"/>
                    <a:pt x="92" y="105"/>
                  </a:cubicBezTo>
                  <a:cubicBezTo>
                    <a:pt x="88" y="107"/>
                    <a:pt x="88" y="107"/>
                    <a:pt x="88" y="107"/>
                  </a:cubicBezTo>
                  <a:cubicBezTo>
                    <a:pt x="85" y="109"/>
                    <a:pt x="81" y="110"/>
                    <a:pt x="77" y="111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55" y="123"/>
                    <a:pt x="55" y="123"/>
                    <a:pt x="55" y="123"/>
                  </a:cubicBezTo>
                  <a:cubicBezTo>
                    <a:pt x="55" y="113"/>
                    <a:pt x="55" y="113"/>
                    <a:pt x="55" y="113"/>
                  </a:cubicBezTo>
                  <a:cubicBezTo>
                    <a:pt x="51" y="111"/>
                    <a:pt x="51" y="111"/>
                    <a:pt x="51" y="111"/>
                  </a:cubicBezTo>
                  <a:cubicBezTo>
                    <a:pt x="47" y="110"/>
                    <a:pt x="43" y="109"/>
                    <a:pt x="40" y="107"/>
                  </a:cubicBezTo>
                  <a:cubicBezTo>
                    <a:pt x="36" y="105"/>
                    <a:pt x="36" y="105"/>
                    <a:pt x="36" y="105"/>
                  </a:cubicBezTo>
                  <a:cubicBezTo>
                    <a:pt x="28" y="112"/>
                    <a:pt x="28" y="112"/>
                    <a:pt x="28" y="112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23" y="92"/>
                    <a:pt x="23" y="92"/>
                    <a:pt x="23" y="92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19" y="85"/>
                    <a:pt x="17" y="81"/>
                    <a:pt x="16" y="77"/>
                  </a:cubicBezTo>
                  <a:cubicBezTo>
                    <a:pt x="15" y="72"/>
                    <a:pt x="15" y="72"/>
                    <a:pt x="15" y="72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7" y="46"/>
                    <a:pt x="19" y="43"/>
                    <a:pt x="21" y="39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3" y="18"/>
                    <a:pt x="47" y="17"/>
                    <a:pt x="51" y="16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7" y="16"/>
                    <a:pt x="77" y="16"/>
                    <a:pt x="77" y="16"/>
                  </a:cubicBezTo>
                  <a:cubicBezTo>
                    <a:pt x="81" y="17"/>
                    <a:pt x="85" y="18"/>
                    <a:pt x="88" y="20"/>
                  </a:cubicBezTo>
                  <a:cubicBezTo>
                    <a:pt x="92" y="23"/>
                    <a:pt x="92" y="23"/>
                    <a:pt x="92" y="23"/>
                  </a:cubicBezTo>
                  <a:cubicBezTo>
                    <a:pt x="100" y="15"/>
                    <a:pt x="100" y="15"/>
                    <a:pt x="100" y="15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7" y="39"/>
                    <a:pt x="107" y="39"/>
                    <a:pt x="107" y="39"/>
                  </a:cubicBezTo>
                  <a:cubicBezTo>
                    <a:pt x="109" y="43"/>
                    <a:pt x="111" y="46"/>
                    <a:pt x="112" y="50"/>
                  </a:cubicBezTo>
                  <a:cubicBezTo>
                    <a:pt x="113" y="55"/>
                    <a:pt x="113" y="55"/>
                    <a:pt x="113" y="55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72"/>
                    <a:pt x="123" y="72"/>
                    <a:pt x="123" y="72"/>
                  </a:cubicBezTo>
                  <a:cubicBezTo>
                    <a:pt x="113" y="72"/>
                    <a:pt x="113" y="72"/>
                    <a:pt x="113" y="72"/>
                  </a:cubicBezTo>
                  <a:cubicBezTo>
                    <a:pt x="112" y="77"/>
                    <a:pt x="112" y="77"/>
                    <a:pt x="112" y="77"/>
                  </a:cubicBezTo>
                  <a:cubicBezTo>
                    <a:pt x="111" y="81"/>
                    <a:pt x="109" y="85"/>
                    <a:pt x="107" y="88"/>
                  </a:cubicBezTo>
                  <a:cubicBezTo>
                    <a:pt x="105" y="92"/>
                    <a:pt x="105" y="92"/>
                    <a:pt x="105" y="92"/>
                  </a:cubicBezTo>
                  <a:lnTo>
                    <a:pt x="112" y="9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Freeform 49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714375" y="5264160"/>
              <a:ext cx="184150" cy="184150"/>
            </a:xfrm>
            <a:custGeom>
              <a:avLst/>
              <a:gdLst>
                <a:gd name="T0" fmla="*/ 25 w 49"/>
                <a:gd name="T1" fmla="*/ 0 h 49"/>
                <a:gd name="T2" fmla="*/ 0 w 49"/>
                <a:gd name="T3" fmla="*/ 25 h 49"/>
                <a:gd name="T4" fmla="*/ 25 w 49"/>
                <a:gd name="T5" fmla="*/ 49 h 49"/>
                <a:gd name="T6" fmla="*/ 49 w 49"/>
                <a:gd name="T7" fmla="*/ 25 h 49"/>
                <a:gd name="T8" fmla="*/ 25 w 49"/>
                <a:gd name="T9" fmla="*/ 0 h 49"/>
                <a:gd name="T10" fmla="*/ 39 w 49"/>
                <a:gd name="T11" fmla="*/ 39 h 49"/>
                <a:gd name="T12" fmla="*/ 25 w 49"/>
                <a:gd name="T13" fmla="*/ 45 h 49"/>
                <a:gd name="T14" fmla="*/ 11 w 49"/>
                <a:gd name="T15" fmla="*/ 39 h 49"/>
                <a:gd name="T16" fmla="*/ 5 w 49"/>
                <a:gd name="T17" fmla="*/ 25 h 49"/>
                <a:gd name="T18" fmla="*/ 11 w 49"/>
                <a:gd name="T19" fmla="*/ 10 h 49"/>
                <a:gd name="T20" fmla="*/ 25 w 49"/>
                <a:gd name="T21" fmla="*/ 5 h 49"/>
                <a:gd name="T22" fmla="*/ 39 w 49"/>
                <a:gd name="T23" fmla="*/ 10 h 49"/>
                <a:gd name="T24" fmla="*/ 45 w 49"/>
                <a:gd name="T25" fmla="*/ 25 h 49"/>
                <a:gd name="T26" fmla="*/ 39 w 49"/>
                <a:gd name="T27" fmla="*/ 3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" h="49">
                  <a:moveTo>
                    <a:pt x="25" y="0"/>
                  </a:moveTo>
                  <a:cubicBezTo>
                    <a:pt x="11" y="0"/>
                    <a:pt x="0" y="11"/>
                    <a:pt x="0" y="25"/>
                  </a:cubicBezTo>
                  <a:cubicBezTo>
                    <a:pt x="0" y="38"/>
                    <a:pt x="11" y="49"/>
                    <a:pt x="25" y="49"/>
                  </a:cubicBezTo>
                  <a:cubicBezTo>
                    <a:pt x="38" y="49"/>
                    <a:pt x="49" y="38"/>
                    <a:pt x="49" y="25"/>
                  </a:cubicBezTo>
                  <a:cubicBezTo>
                    <a:pt x="49" y="11"/>
                    <a:pt x="38" y="0"/>
                    <a:pt x="25" y="0"/>
                  </a:cubicBezTo>
                  <a:close/>
                  <a:moveTo>
                    <a:pt x="39" y="39"/>
                  </a:moveTo>
                  <a:cubicBezTo>
                    <a:pt x="35" y="43"/>
                    <a:pt x="30" y="45"/>
                    <a:pt x="25" y="45"/>
                  </a:cubicBezTo>
                  <a:cubicBezTo>
                    <a:pt x="20" y="45"/>
                    <a:pt x="15" y="43"/>
                    <a:pt x="11" y="39"/>
                  </a:cubicBezTo>
                  <a:cubicBezTo>
                    <a:pt x="7" y="35"/>
                    <a:pt x="5" y="30"/>
                    <a:pt x="5" y="25"/>
                  </a:cubicBezTo>
                  <a:cubicBezTo>
                    <a:pt x="5" y="19"/>
                    <a:pt x="7" y="14"/>
                    <a:pt x="11" y="10"/>
                  </a:cubicBezTo>
                  <a:cubicBezTo>
                    <a:pt x="15" y="7"/>
                    <a:pt x="20" y="5"/>
                    <a:pt x="25" y="5"/>
                  </a:cubicBezTo>
                  <a:cubicBezTo>
                    <a:pt x="30" y="5"/>
                    <a:pt x="35" y="7"/>
                    <a:pt x="39" y="10"/>
                  </a:cubicBezTo>
                  <a:cubicBezTo>
                    <a:pt x="43" y="14"/>
                    <a:pt x="45" y="19"/>
                    <a:pt x="45" y="25"/>
                  </a:cubicBezTo>
                  <a:cubicBezTo>
                    <a:pt x="45" y="30"/>
                    <a:pt x="43" y="35"/>
                    <a:pt x="39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>
            <p:custDataLst>
              <p:tags r:id="rId16"/>
            </p:custDataLst>
          </p:nvPr>
        </p:nvGrpSpPr>
        <p:grpSpPr>
          <a:xfrm>
            <a:off x="5465260" y="1363240"/>
            <a:ext cx="468000" cy="468000"/>
            <a:chOff x="1528763" y="1266827"/>
            <a:chExt cx="481013" cy="481013"/>
          </a:xfrm>
          <a:solidFill>
            <a:schemeClr val="accent4"/>
          </a:solidFill>
        </p:grpSpPr>
        <p:sp>
          <p:nvSpPr>
            <p:cNvPr id="56" name="Freeform 146"/>
            <p:cNvSpPr/>
            <p:nvPr>
              <p:custDataLst>
                <p:tags r:id="rId17"/>
              </p:custDataLst>
            </p:nvPr>
          </p:nvSpPr>
          <p:spPr bwMode="auto">
            <a:xfrm>
              <a:off x="1762125" y="1620840"/>
              <a:ext cx="14288" cy="127000"/>
            </a:xfrm>
            <a:custGeom>
              <a:avLst/>
              <a:gdLst>
                <a:gd name="T0" fmla="*/ 2 w 4"/>
                <a:gd name="T1" fmla="*/ 0 h 34"/>
                <a:gd name="T2" fmla="*/ 0 w 4"/>
                <a:gd name="T3" fmla="*/ 2 h 34"/>
                <a:gd name="T4" fmla="*/ 0 w 4"/>
                <a:gd name="T5" fmla="*/ 32 h 34"/>
                <a:gd name="T6" fmla="*/ 2 w 4"/>
                <a:gd name="T7" fmla="*/ 34 h 34"/>
                <a:gd name="T8" fmla="*/ 4 w 4"/>
                <a:gd name="T9" fmla="*/ 32 h 34"/>
                <a:gd name="T10" fmla="*/ 4 w 4"/>
                <a:gd name="T11" fmla="*/ 2 h 34"/>
                <a:gd name="T12" fmla="*/ 2 w 4"/>
                <a:gd name="T1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34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3" y="34"/>
                    <a:pt x="4" y="33"/>
                    <a:pt x="4" y="3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 147"/>
            <p:cNvSpPr/>
            <p:nvPr>
              <p:custDataLst>
                <p:tags r:id="rId18"/>
              </p:custDataLst>
            </p:nvPr>
          </p:nvSpPr>
          <p:spPr bwMode="auto">
            <a:xfrm>
              <a:off x="1762125" y="1266827"/>
              <a:ext cx="14288" cy="128588"/>
            </a:xfrm>
            <a:custGeom>
              <a:avLst/>
              <a:gdLst>
                <a:gd name="T0" fmla="*/ 2 w 4"/>
                <a:gd name="T1" fmla="*/ 0 h 34"/>
                <a:gd name="T2" fmla="*/ 0 w 4"/>
                <a:gd name="T3" fmla="*/ 2 h 34"/>
                <a:gd name="T4" fmla="*/ 0 w 4"/>
                <a:gd name="T5" fmla="*/ 32 h 34"/>
                <a:gd name="T6" fmla="*/ 2 w 4"/>
                <a:gd name="T7" fmla="*/ 34 h 34"/>
                <a:gd name="T8" fmla="*/ 4 w 4"/>
                <a:gd name="T9" fmla="*/ 32 h 34"/>
                <a:gd name="T10" fmla="*/ 4 w 4"/>
                <a:gd name="T11" fmla="*/ 2 h 34"/>
                <a:gd name="T12" fmla="*/ 2 w 4"/>
                <a:gd name="T1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34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3" y="34"/>
                    <a:pt x="4" y="33"/>
                    <a:pt x="4" y="3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Freeform 148"/>
            <p:cNvSpPr/>
            <p:nvPr>
              <p:custDataLst>
                <p:tags r:id="rId19"/>
              </p:custDataLst>
            </p:nvPr>
          </p:nvSpPr>
          <p:spPr bwMode="auto">
            <a:xfrm>
              <a:off x="1528763" y="1500190"/>
              <a:ext cx="127000" cy="14288"/>
            </a:xfrm>
            <a:custGeom>
              <a:avLst/>
              <a:gdLst>
                <a:gd name="T0" fmla="*/ 34 w 34"/>
                <a:gd name="T1" fmla="*/ 2 h 4"/>
                <a:gd name="T2" fmla="*/ 32 w 34"/>
                <a:gd name="T3" fmla="*/ 0 h 4"/>
                <a:gd name="T4" fmla="*/ 2 w 34"/>
                <a:gd name="T5" fmla="*/ 0 h 4"/>
                <a:gd name="T6" fmla="*/ 0 w 34"/>
                <a:gd name="T7" fmla="*/ 2 h 4"/>
                <a:gd name="T8" fmla="*/ 2 w 34"/>
                <a:gd name="T9" fmla="*/ 4 h 4"/>
                <a:gd name="T10" fmla="*/ 32 w 34"/>
                <a:gd name="T11" fmla="*/ 4 h 4"/>
                <a:gd name="T12" fmla="*/ 34 w 34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4">
                  <a:moveTo>
                    <a:pt x="34" y="2"/>
                  </a:move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3"/>
                    <a:pt x="34" y="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Freeform 149"/>
            <p:cNvSpPr/>
            <p:nvPr>
              <p:custDataLst>
                <p:tags r:id="rId20"/>
              </p:custDataLst>
            </p:nvPr>
          </p:nvSpPr>
          <p:spPr bwMode="auto">
            <a:xfrm>
              <a:off x="1881188" y="1500190"/>
              <a:ext cx="128588" cy="14288"/>
            </a:xfrm>
            <a:custGeom>
              <a:avLst/>
              <a:gdLst>
                <a:gd name="T0" fmla="*/ 32 w 34"/>
                <a:gd name="T1" fmla="*/ 0 h 4"/>
                <a:gd name="T2" fmla="*/ 2 w 34"/>
                <a:gd name="T3" fmla="*/ 0 h 4"/>
                <a:gd name="T4" fmla="*/ 0 w 34"/>
                <a:gd name="T5" fmla="*/ 2 h 4"/>
                <a:gd name="T6" fmla="*/ 2 w 34"/>
                <a:gd name="T7" fmla="*/ 4 h 4"/>
                <a:gd name="T8" fmla="*/ 32 w 34"/>
                <a:gd name="T9" fmla="*/ 4 h 4"/>
                <a:gd name="T10" fmla="*/ 34 w 34"/>
                <a:gd name="T11" fmla="*/ 2 h 4"/>
                <a:gd name="T12" fmla="*/ 32 w 34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4">
                  <a:moveTo>
                    <a:pt x="3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3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Freeform 150"/>
            <p:cNvSpPr/>
            <p:nvPr>
              <p:custDataLst>
                <p:tags r:id="rId21"/>
              </p:custDataLst>
            </p:nvPr>
          </p:nvSpPr>
          <p:spPr bwMode="auto">
            <a:xfrm>
              <a:off x="1820863" y="1604965"/>
              <a:ext cx="71438" cy="112713"/>
            </a:xfrm>
            <a:custGeom>
              <a:avLst/>
              <a:gdLst>
                <a:gd name="T0" fmla="*/ 4 w 19"/>
                <a:gd name="T1" fmla="*/ 1 h 30"/>
                <a:gd name="T2" fmla="*/ 2 w 19"/>
                <a:gd name="T3" fmla="*/ 0 h 30"/>
                <a:gd name="T4" fmla="*/ 1 w 19"/>
                <a:gd name="T5" fmla="*/ 0 h 30"/>
                <a:gd name="T6" fmla="*/ 0 w 19"/>
                <a:gd name="T7" fmla="*/ 1 h 30"/>
                <a:gd name="T8" fmla="*/ 0 w 19"/>
                <a:gd name="T9" fmla="*/ 3 h 30"/>
                <a:gd name="T10" fmla="*/ 15 w 19"/>
                <a:gd name="T11" fmla="*/ 29 h 30"/>
                <a:gd name="T12" fmla="*/ 18 w 19"/>
                <a:gd name="T13" fmla="*/ 30 h 30"/>
                <a:gd name="T14" fmla="*/ 19 w 19"/>
                <a:gd name="T15" fmla="*/ 26 h 30"/>
                <a:gd name="T16" fmla="*/ 4 w 19"/>
                <a:gd name="T17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30">
                  <a:moveTo>
                    <a:pt x="4" y="1"/>
                  </a:move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30"/>
                    <a:pt x="17" y="30"/>
                    <a:pt x="18" y="30"/>
                  </a:cubicBezTo>
                  <a:cubicBezTo>
                    <a:pt x="19" y="29"/>
                    <a:pt x="19" y="27"/>
                    <a:pt x="19" y="26"/>
                  </a:cubicBezTo>
                  <a:lnTo>
                    <a:pt x="4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Freeform 151"/>
            <p:cNvSpPr/>
            <p:nvPr>
              <p:custDataLst>
                <p:tags r:id="rId22"/>
              </p:custDataLst>
            </p:nvPr>
          </p:nvSpPr>
          <p:spPr bwMode="auto">
            <a:xfrm>
              <a:off x="1644650" y="1296989"/>
              <a:ext cx="76200" cy="115888"/>
            </a:xfrm>
            <a:custGeom>
              <a:avLst/>
              <a:gdLst>
                <a:gd name="T0" fmla="*/ 4 w 20"/>
                <a:gd name="T1" fmla="*/ 2 h 31"/>
                <a:gd name="T2" fmla="*/ 2 w 20"/>
                <a:gd name="T3" fmla="*/ 0 h 31"/>
                <a:gd name="T4" fmla="*/ 1 w 20"/>
                <a:gd name="T5" fmla="*/ 1 h 31"/>
                <a:gd name="T6" fmla="*/ 0 w 20"/>
                <a:gd name="T7" fmla="*/ 4 h 31"/>
                <a:gd name="T8" fmla="*/ 15 w 20"/>
                <a:gd name="T9" fmla="*/ 29 h 31"/>
                <a:gd name="T10" fmla="*/ 17 w 20"/>
                <a:gd name="T11" fmla="*/ 31 h 31"/>
                <a:gd name="T12" fmla="*/ 18 w 20"/>
                <a:gd name="T13" fmla="*/ 30 h 31"/>
                <a:gd name="T14" fmla="*/ 19 w 20"/>
                <a:gd name="T15" fmla="*/ 27 h 31"/>
                <a:gd name="T16" fmla="*/ 4 w 20"/>
                <a:gd name="T17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31">
                  <a:moveTo>
                    <a:pt x="4" y="2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30"/>
                    <a:pt x="16" y="31"/>
                    <a:pt x="17" y="31"/>
                  </a:cubicBezTo>
                  <a:cubicBezTo>
                    <a:pt x="17" y="31"/>
                    <a:pt x="18" y="31"/>
                    <a:pt x="18" y="30"/>
                  </a:cubicBezTo>
                  <a:cubicBezTo>
                    <a:pt x="19" y="30"/>
                    <a:pt x="20" y="28"/>
                    <a:pt x="19" y="27"/>
                  </a:cubicBezTo>
                  <a:lnTo>
                    <a:pt x="4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Freeform 152"/>
            <p:cNvSpPr/>
            <p:nvPr>
              <p:custDataLst>
                <p:tags r:id="rId23"/>
              </p:custDataLst>
            </p:nvPr>
          </p:nvSpPr>
          <p:spPr bwMode="auto">
            <a:xfrm>
              <a:off x="1558925" y="1560515"/>
              <a:ext cx="115888" cy="74613"/>
            </a:xfrm>
            <a:custGeom>
              <a:avLst/>
              <a:gdLst>
                <a:gd name="T0" fmla="*/ 30 w 31"/>
                <a:gd name="T1" fmla="*/ 1 h 20"/>
                <a:gd name="T2" fmla="*/ 28 w 31"/>
                <a:gd name="T3" fmla="*/ 0 h 20"/>
                <a:gd name="T4" fmla="*/ 27 w 31"/>
                <a:gd name="T5" fmla="*/ 0 h 20"/>
                <a:gd name="T6" fmla="*/ 1 w 31"/>
                <a:gd name="T7" fmla="*/ 15 h 20"/>
                <a:gd name="T8" fmla="*/ 0 w 31"/>
                <a:gd name="T9" fmla="*/ 16 h 20"/>
                <a:gd name="T10" fmla="*/ 1 w 31"/>
                <a:gd name="T11" fmla="*/ 18 h 20"/>
                <a:gd name="T12" fmla="*/ 4 w 31"/>
                <a:gd name="T13" fmla="*/ 19 h 20"/>
                <a:gd name="T14" fmla="*/ 29 w 31"/>
                <a:gd name="T15" fmla="*/ 4 h 20"/>
                <a:gd name="T16" fmla="*/ 30 w 31"/>
                <a:gd name="T17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20">
                  <a:moveTo>
                    <a:pt x="30" y="1"/>
                  </a:moveTo>
                  <a:cubicBezTo>
                    <a:pt x="30" y="0"/>
                    <a:pt x="29" y="0"/>
                    <a:pt x="28" y="0"/>
                  </a:cubicBezTo>
                  <a:cubicBezTo>
                    <a:pt x="28" y="0"/>
                    <a:pt x="27" y="0"/>
                    <a:pt x="27" y="0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6"/>
                    <a:pt x="0" y="16"/>
                  </a:cubicBezTo>
                  <a:cubicBezTo>
                    <a:pt x="0" y="17"/>
                    <a:pt x="0" y="18"/>
                    <a:pt x="1" y="18"/>
                  </a:cubicBezTo>
                  <a:cubicBezTo>
                    <a:pt x="1" y="19"/>
                    <a:pt x="3" y="20"/>
                    <a:pt x="4" y="19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0" y="3"/>
                    <a:pt x="31" y="2"/>
                    <a:pt x="30" y="1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Freeform 153"/>
            <p:cNvSpPr/>
            <p:nvPr>
              <p:custDataLst>
                <p:tags r:id="rId24"/>
              </p:custDataLst>
            </p:nvPr>
          </p:nvSpPr>
          <p:spPr bwMode="auto">
            <a:xfrm>
              <a:off x="1862138" y="1382715"/>
              <a:ext cx="117475" cy="76200"/>
            </a:xfrm>
            <a:custGeom>
              <a:avLst/>
              <a:gdLst>
                <a:gd name="T0" fmla="*/ 1 w 31"/>
                <a:gd name="T1" fmla="*/ 16 h 20"/>
                <a:gd name="T2" fmla="*/ 1 w 31"/>
                <a:gd name="T3" fmla="*/ 18 h 20"/>
                <a:gd name="T4" fmla="*/ 4 w 31"/>
                <a:gd name="T5" fmla="*/ 19 h 20"/>
                <a:gd name="T6" fmla="*/ 30 w 31"/>
                <a:gd name="T7" fmla="*/ 4 h 20"/>
                <a:gd name="T8" fmla="*/ 31 w 31"/>
                <a:gd name="T9" fmla="*/ 3 h 20"/>
                <a:gd name="T10" fmla="*/ 30 w 31"/>
                <a:gd name="T11" fmla="*/ 1 h 20"/>
                <a:gd name="T12" fmla="*/ 28 w 31"/>
                <a:gd name="T13" fmla="*/ 0 h 20"/>
                <a:gd name="T14" fmla="*/ 27 w 31"/>
                <a:gd name="T15" fmla="*/ 0 h 20"/>
                <a:gd name="T16" fmla="*/ 2 w 31"/>
                <a:gd name="T17" fmla="*/ 15 h 20"/>
                <a:gd name="T18" fmla="*/ 1 w 31"/>
                <a:gd name="T19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20">
                  <a:moveTo>
                    <a:pt x="1" y="16"/>
                  </a:moveTo>
                  <a:cubicBezTo>
                    <a:pt x="0" y="17"/>
                    <a:pt x="0" y="18"/>
                    <a:pt x="1" y="18"/>
                  </a:cubicBezTo>
                  <a:cubicBezTo>
                    <a:pt x="1" y="19"/>
                    <a:pt x="3" y="20"/>
                    <a:pt x="4" y="19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3"/>
                    <a:pt x="31" y="3"/>
                  </a:cubicBezTo>
                  <a:cubicBezTo>
                    <a:pt x="31" y="2"/>
                    <a:pt x="31" y="2"/>
                    <a:pt x="30" y="1"/>
                  </a:cubicBezTo>
                  <a:cubicBezTo>
                    <a:pt x="30" y="0"/>
                    <a:pt x="29" y="0"/>
                    <a:pt x="28" y="0"/>
                  </a:cubicBezTo>
                  <a:cubicBezTo>
                    <a:pt x="28" y="0"/>
                    <a:pt x="28" y="0"/>
                    <a:pt x="27" y="0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1" y="15"/>
                    <a:pt x="1" y="16"/>
                    <a:pt x="1" y="1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Freeform 154"/>
            <p:cNvSpPr/>
            <p:nvPr>
              <p:custDataLst>
                <p:tags r:id="rId25"/>
              </p:custDataLst>
            </p:nvPr>
          </p:nvSpPr>
          <p:spPr bwMode="auto">
            <a:xfrm>
              <a:off x="1862138" y="1560515"/>
              <a:ext cx="117475" cy="74613"/>
            </a:xfrm>
            <a:custGeom>
              <a:avLst/>
              <a:gdLst>
                <a:gd name="T0" fmla="*/ 30 w 31"/>
                <a:gd name="T1" fmla="*/ 15 h 20"/>
                <a:gd name="T2" fmla="*/ 4 w 31"/>
                <a:gd name="T3" fmla="*/ 0 h 20"/>
                <a:gd name="T4" fmla="*/ 3 w 31"/>
                <a:gd name="T5" fmla="*/ 0 h 20"/>
                <a:gd name="T6" fmla="*/ 1 w 31"/>
                <a:gd name="T7" fmla="*/ 1 h 20"/>
                <a:gd name="T8" fmla="*/ 2 w 31"/>
                <a:gd name="T9" fmla="*/ 4 h 20"/>
                <a:gd name="T10" fmla="*/ 27 w 31"/>
                <a:gd name="T11" fmla="*/ 19 h 20"/>
                <a:gd name="T12" fmla="*/ 30 w 31"/>
                <a:gd name="T13" fmla="*/ 18 h 20"/>
                <a:gd name="T14" fmla="*/ 30 w 31"/>
                <a:gd name="T15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20">
                  <a:moveTo>
                    <a:pt x="30" y="15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2"/>
                    <a:pt x="1" y="3"/>
                    <a:pt x="2" y="4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8" y="20"/>
                    <a:pt x="30" y="19"/>
                    <a:pt x="30" y="18"/>
                  </a:cubicBezTo>
                  <a:cubicBezTo>
                    <a:pt x="31" y="17"/>
                    <a:pt x="31" y="16"/>
                    <a:pt x="30" y="15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Freeform 155"/>
            <p:cNvSpPr/>
            <p:nvPr>
              <p:custDataLst>
                <p:tags r:id="rId26"/>
              </p:custDataLst>
            </p:nvPr>
          </p:nvSpPr>
          <p:spPr bwMode="auto">
            <a:xfrm>
              <a:off x="1558925" y="1382715"/>
              <a:ext cx="115888" cy="76200"/>
            </a:xfrm>
            <a:custGeom>
              <a:avLst/>
              <a:gdLst>
                <a:gd name="T0" fmla="*/ 1 w 31"/>
                <a:gd name="T1" fmla="*/ 4 h 20"/>
                <a:gd name="T2" fmla="*/ 27 w 31"/>
                <a:gd name="T3" fmla="*/ 19 h 20"/>
                <a:gd name="T4" fmla="*/ 30 w 31"/>
                <a:gd name="T5" fmla="*/ 18 h 20"/>
                <a:gd name="T6" fmla="*/ 30 w 31"/>
                <a:gd name="T7" fmla="*/ 16 h 20"/>
                <a:gd name="T8" fmla="*/ 29 w 31"/>
                <a:gd name="T9" fmla="*/ 15 h 20"/>
                <a:gd name="T10" fmla="*/ 4 w 31"/>
                <a:gd name="T11" fmla="*/ 0 h 20"/>
                <a:gd name="T12" fmla="*/ 3 w 31"/>
                <a:gd name="T13" fmla="*/ 0 h 20"/>
                <a:gd name="T14" fmla="*/ 1 w 31"/>
                <a:gd name="T15" fmla="*/ 1 h 20"/>
                <a:gd name="T16" fmla="*/ 0 w 31"/>
                <a:gd name="T17" fmla="*/ 3 h 20"/>
                <a:gd name="T18" fmla="*/ 1 w 31"/>
                <a:gd name="T19" fmla="*/ 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20">
                  <a:moveTo>
                    <a:pt x="1" y="4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28" y="20"/>
                    <a:pt x="30" y="19"/>
                    <a:pt x="30" y="18"/>
                  </a:cubicBezTo>
                  <a:cubicBezTo>
                    <a:pt x="31" y="18"/>
                    <a:pt x="31" y="17"/>
                    <a:pt x="30" y="16"/>
                  </a:cubicBezTo>
                  <a:cubicBezTo>
                    <a:pt x="30" y="16"/>
                    <a:pt x="30" y="15"/>
                    <a:pt x="29" y="1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4"/>
                    <a:pt x="1" y="4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Freeform 156"/>
            <p:cNvSpPr/>
            <p:nvPr>
              <p:custDataLst>
                <p:tags r:id="rId27"/>
              </p:custDataLst>
            </p:nvPr>
          </p:nvSpPr>
          <p:spPr bwMode="auto">
            <a:xfrm>
              <a:off x="1644650" y="1604965"/>
              <a:ext cx="71438" cy="112713"/>
            </a:xfrm>
            <a:custGeom>
              <a:avLst/>
              <a:gdLst>
                <a:gd name="T0" fmla="*/ 18 w 19"/>
                <a:gd name="T1" fmla="*/ 0 h 30"/>
                <a:gd name="T2" fmla="*/ 17 w 19"/>
                <a:gd name="T3" fmla="*/ 0 h 30"/>
                <a:gd name="T4" fmla="*/ 15 w 19"/>
                <a:gd name="T5" fmla="*/ 1 h 30"/>
                <a:gd name="T6" fmla="*/ 0 w 19"/>
                <a:gd name="T7" fmla="*/ 26 h 30"/>
                <a:gd name="T8" fmla="*/ 1 w 19"/>
                <a:gd name="T9" fmla="*/ 30 h 30"/>
                <a:gd name="T10" fmla="*/ 4 w 19"/>
                <a:gd name="T11" fmla="*/ 29 h 30"/>
                <a:gd name="T12" fmla="*/ 19 w 19"/>
                <a:gd name="T13" fmla="*/ 3 h 30"/>
                <a:gd name="T14" fmla="*/ 19 w 19"/>
                <a:gd name="T15" fmla="*/ 1 h 30"/>
                <a:gd name="T16" fmla="*/ 18 w 19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30">
                  <a:moveTo>
                    <a:pt x="18" y="0"/>
                  </a:moveTo>
                  <a:cubicBezTo>
                    <a:pt x="18" y="0"/>
                    <a:pt x="17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7"/>
                    <a:pt x="0" y="29"/>
                    <a:pt x="1" y="30"/>
                  </a:cubicBezTo>
                  <a:cubicBezTo>
                    <a:pt x="2" y="30"/>
                    <a:pt x="4" y="30"/>
                    <a:pt x="4" y="29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2"/>
                    <a:pt x="19" y="2"/>
                    <a:pt x="19" y="1"/>
                  </a:cubicBezTo>
                  <a:cubicBezTo>
                    <a:pt x="19" y="1"/>
                    <a:pt x="19" y="0"/>
                    <a:pt x="18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Freeform 157"/>
            <p:cNvSpPr/>
            <p:nvPr>
              <p:custDataLst>
                <p:tags r:id="rId28"/>
              </p:custDataLst>
            </p:nvPr>
          </p:nvSpPr>
          <p:spPr bwMode="auto">
            <a:xfrm>
              <a:off x="1817688" y="1296989"/>
              <a:ext cx="74613" cy="115888"/>
            </a:xfrm>
            <a:custGeom>
              <a:avLst/>
              <a:gdLst>
                <a:gd name="T0" fmla="*/ 2 w 20"/>
                <a:gd name="T1" fmla="*/ 30 h 31"/>
                <a:gd name="T2" fmla="*/ 5 w 20"/>
                <a:gd name="T3" fmla="*/ 29 h 31"/>
                <a:gd name="T4" fmla="*/ 20 w 20"/>
                <a:gd name="T5" fmla="*/ 4 h 31"/>
                <a:gd name="T6" fmla="*/ 19 w 20"/>
                <a:gd name="T7" fmla="*/ 1 h 31"/>
                <a:gd name="T8" fmla="*/ 18 w 20"/>
                <a:gd name="T9" fmla="*/ 0 h 31"/>
                <a:gd name="T10" fmla="*/ 16 w 20"/>
                <a:gd name="T11" fmla="*/ 2 h 31"/>
                <a:gd name="T12" fmla="*/ 1 w 20"/>
                <a:gd name="T13" fmla="*/ 27 h 31"/>
                <a:gd name="T14" fmla="*/ 2 w 20"/>
                <a:gd name="T1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31">
                  <a:moveTo>
                    <a:pt x="2" y="30"/>
                  </a:moveTo>
                  <a:cubicBezTo>
                    <a:pt x="3" y="31"/>
                    <a:pt x="4" y="31"/>
                    <a:pt x="5" y="29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3"/>
                    <a:pt x="20" y="1"/>
                    <a:pt x="19" y="1"/>
                  </a:cubicBezTo>
                  <a:cubicBezTo>
                    <a:pt x="19" y="0"/>
                    <a:pt x="18" y="0"/>
                    <a:pt x="18" y="0"/>
                  </a:cubicBezTo>
                  <a:cubicBezTo>
                    <a:pt x="17" y="0"/>
                    <a:pt x="16" y="1"/>
                    <a:pt x="16" y="2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1" y="30"/>
                    <a:pt x="2" y="3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8" name="Freeform 111"/>
          <p:cNvSpPr>
            <a:spLocks noEditPoints="1"/>
          </p:cNvSpPr>
          <p:nvPr>
            <p:custDataLst>
              <p:tags r:id="rId29"/>
            </p:custDataLst>
          </p:nvPr>
        </p:nvSpPr>
        <p:spPr bwMode="auto">
          <a:xfrm>
            <a:off x="10823284" y="1366708"/>
            <a:ext cx="468000" cy="437996"/>
          </a:xfrm>
          <a:custGeom>
            <a:avLst/>
            <a:gdLst>
              <a:gd name="T0" fmla="*/ 98 w 132"/>
              <a:gd name="T1" fmla="*/ 9 h 128"/>
              <a:gd name="T2" fmla="*/ 11 w 132"/>
              <a:gd name="T3" fmla="*/ 32 h 128"/>
              <a:gd name="T4" fmla="*/ 34 w 132"/>
              <a:gd name="T5" fmla="*/ 119 h 128"/>
              <a:gd name="T6" fmla="*/ 121 w 132"/>
              <a:gd name="T7" fmla="*/ 96 h 128"/>
              <a:gd name="T8" fmla="*/ 125 w 132"/>
              <a:gd name="T9" fmla="*/ 55 h 128"/>
              <a:gd name="T10" fmla="*/ 125 w 132"/>
              <a:gd name="T11" fmla="*/ 65 h 128"/>
              <a:gd name="T12" fmla="*/ 97 w 132"/>
              <a:gd name="T13" fmla="*/ 79 h 128"/>
              <a:gd name="T14" fmla="*/ 125 w 132"/>
              <a:gd name="T15" fmla="*/ 55 h 128"/>
              <a:gd name="T16" fmla="*/ 123 w 132"/>
              <a:gd name="T17" fmla="*/ 46 h 128"/>
              <a:gd name="T18" fmla="*/ 93 w 132"/>
              <a:gd name="T19" fmla="*/ 77 h 128"/>
              <a:gd name="T20" fmla="*/ 119 w 132"/>
              <a:gd name="T21" fmla="*/ 36 h 128"/>
              <a:gd name="T22" fmla="*/ 111 w 132"/>
              <a:gd name="T23" fmla="*/ 25 h 128"/>
              <a:gd name="T24" fmla="*/ 116 w 132"/>
              <a:gd name="T25" fmla="*/ 31 h 128"/>
              <a:gd name="T26" fmla="*/ 79 w 132"/>
              <a:gd name="T27" fmla="*/ 69 h 128"/>
              <a:gd name="T28" fmla="*/ 110 w 132"/>
              <a:gd name="T29" fmla="*/ 24 h 128"/>
              <a:gd name="T30" fmla="*/ 68 w 132"/>
              <a:gd name="T31" fmla="*/ 5 h 128"/>
              <a:gd name="T32" fmla="*/ 77 w 132"/>
              <a:gd name="T33" fmla="*/ 6 h 128"/>
              <a:gd name="T34" fmla="*/ 68 w 132"/>
              <a:gd name="T35" fmla="*/ 17 h 128"/>
              <a:gd name="T36" fmla="*/ 68 w 132"/>
              <a:gd name="T37" fmla="*/ 24 h 128"/>
              <a:gd name="T38" fmla="*/ 85 w 132"/>
              <a:gd name="T39" fmla="*/ 8 h 128"/>
              <a:gd name="T40" fmla="*/ 95 w 132"/>
              <a:gd name="T41" fmla="*/ 12 h 128"/>
              <a:gd name="T42" fmla="*/ 68 w 132"/>
              <a:gd name="T43" fmla="*/ 24 h 128"/>
              <a:gd name="T44" fmla="*/ 99 w 132"/>
              <a:gd name="T45" fmla="*/ 14 h 128"/>
              <a:gd name="T46" fmla="*/ 106 w 132"/>
              <a:gd name="T47" fmla="*/ 20 h 128"/>
              <a:gd name="T48" fmla="*/ 68 w 132"/>
              <a:gd name="T49" fmla="*/ 59 h 128"/>
              <a:gd name="T50" fmla="*/ 115 w 132"/>
              <a:gd name="T51" fmla="*/ 97 h 128"/>
              <a:gd name="T52" fmla="*/ 95 w 132"/>
              <a:gd name="T53" fmla="*/ 116 h 128"/>
              <a:gd name="T54" fmla="*/ 51 w 132"/>
              <a:gd name="T55" fmla="*/ 121 h 128"/>
              <a:gd name="T56" fmla="*/ 19 w 132"/>
              <a:gd name="T57" fmla="*/ 100 h 128"/>
              <a:gd name="T58" fmla="*/ 7 w 132"/>
              <a:gd name="T59" fmla="*/ 57 h 128"/>
              <a:gd name="T60" fmla="*/ 24 w 132"/>
              <a:gd name="T61" fmla="*/ 22 h 128"/>
              <a:gd name="T62" fmla="*/ 62 w 132"/>
              <a:gd name="T63" fmla="*/ 5 h 128"/>
              <a:gd name="T64" fmla="*/ 64 w 132"/>
              <a:gd name="T65" fmla="*/ 64 h 128"/>
              <a:gd name="T66" fmla="*/ 116 w 132"/>
              <a:gd name="T67" fmla="*/ 96 h 128"/>
              <a:gd name="T68" fmla="*/ 119 w 132"/>
              <a:gd name="T69" fmla="*/ 92 h 128"/>
              <a:gd name="T70" fmla="*/ 125 w 132"/>
              <a:gd name="T71" fmla="*/ 72 h 128"/>
              <a:gd name="T72" fmla="*/ 119 w 132"/>
              <a:gd name="T73" fmla="*/ 9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32" h="128">
                <a:moveTo>
                  <a:pt x="128" y="47"/>
                </a:moveTo>
                <a:cubicBezTo>
                  <a:pt x="123" y="31"/>
                  <a:pt x="113" y="17"/>
                  <a:pt x="98" y="9"/>
                </a:cubicBezTo>
                <a:cubicBezTo>
                  <a:pt x="88" y="3"/>
                  <a:pt x="77" y="0"/>
                  <a:pt x="66" y="0"/>
                </a:cubicBezTo>
                <a:cubicBezTo>
                  <a:pt x="43" y="0"/>
                  <a:pt x="22" y="12"/>
                  <a:pt x="11" y="32"/>
                </a:cubicBezTo>
                <a:cubicBezTo>
                  <a:pt x="2" y="47"/>
                  <a:pt x="0" y="64"/>
                  <a:pt x="4" y="81"/>
                </a:cubicBezTo>
                <a:cubicBezTo>
                  <a:pt x="9" y="97"/>
                  <a:pt x="19" y="111"/>
                  <a:pt x="34" y="119"/>
                </a:cubicBezTo>
                <a:cubicBezTo>
                  <a:pt x="44" y="125"/>
                  <a:pt x="55" y="128"/>
                  <a:pt x="66" y="128"/>
                </a:cubicBezTo>
                <a:cubicBezTo>
                  <a:pt x="89" y="128"/>
                  <a:pt x="110" y="116"/>
                  <a:pt x="121" y="96"/>
                </a:cubicBezTo>
                <a:cubicBezTo>
                  <a:pt x="130" y="81"/>
                  <a:pt x="132" y="64"/>
                  <a:pt x="128" y="47"/>
                </a:cubicBezTo>
                <a:close/>
                <a:moveTo>
                  <a:pt x="125" y="55"/>
                </a:moveTo>
                <a:cubicBezTo>
                  <a:pt x="125" y="58"/>
                  <a:pt x="125" y="61"/>
                  <a:pt x="125" y="65"/>
                </a:cubicBezTo>
                <a:cubicBezTo>
                  <a:pt x="125" y="65"/>
                  <a:pt x="125" y="65"/>
                  <a:pt x="125" y="65"/>
                </a:cubicBezTo>
                <a:cubicBezTo>
                  <a:pt x="106" y="84"/>
                  <a:pt x="106" y="84"/>
                  <a:pt x="106" y="84"/>
                </a:cubicBezTo>
                <a:cubicBezTo>
                  <a:pt x="97" y="79"/>
                  <a:pt x="97" y="79"/>
                  <a:pt x="97" y="79"/>
                </a:cubicBezTo>
                <a:cubicBezTo>
                  <a:pt x="124" y="52"/>
                  <a:pt x="124" y="52"/>
                  <a:pt x="124" y="52"/>
                </a:cubicBezTo>
                <a:lnTo>
                  <a:pt x="125" y="55"/>
                </a:lnTo>
                <a:close/>
                <a:moveTo>
                  <a:pt x="120" y="38"/>
                </a:moveTo>
                <a:cubicBezTo>
                  <a:pt x="121" y="41"/>
                  <a:pt x="122" y="43"/>
                  <a:pt x="123" y="46"/>
                </a:cubicBezTo>
                <a:cubicBezTo>
                  <a:pt x="123" y="47"/>
                  <a:pt x="123" y="47"/>
                  <a:pt x="123" y="47"/>
                </a:cubicBezTo>
                <a:cubicBezTo>
                  <a:pt x="93" y="77"/>
                  <a:pt x="93" y="77"/>
                  <a:pt x="93" y="77"/>
                </a:cubicBezTo>
                <a:cubicBezTo>
                  <a:pt x="84" y="71"/>
                  <a:pt x="84" y="71"/>
                  <a:pt x="84" y="71"/>
                </a:cubicBezTo>
                <a:cubicBezTo>
                  <a:pt x="119" y="36"/>
                  <a:pt x="119" y="36"/>
                  <a:pt x="119" y="36"/>
                </a:cubicBezTo>
                <a:lnTo>
                  <a:pt x="120" y="38"/>
                </a:lnTo>
                <a:close/>
                <a:moveTo>
                  <a:pt x="111" y="25"/>
                </a:moveTo>
                <a:cubicBezTo>
                  <a:pt x="112" y="26"/>
                  <a:pt x="113" y="27"/>
                  <a:pt x="113" y="28"/>
                </a:cubicBezTo>
                <a:cubicBezTo>
                  <a:pt x="114" y="29"/>
                  <a:pt x="115" y="30"/>
                  <a:pt x="116" y="31"/>
                </a:cubicBezTo>
                <a:cubicBezTo>
                  <a:pt x="116" y="32"/>
                  <a:pt x="116" y="32"/>
                  <a:pt x="116" y="32"/>
                </a:cubicBezTo>
                <a:cubicBezTo>
                  <a:pt x="79" y="69"/>
                  <a:pt x="79" y="69"/>
                  <a:pt x="79" y="69"/>
                </a:cubicBezTo>
                <a:cubicBezTo>
                  <a:pt x="70" y="64"/>
                  <a:pt x="70" y="64"/>
                  <a:pt x="70" y="64"/>
                </a:cubicBezTo>
                <a:cubicBezTo>
                  <a:pt x="110" y="24"/>
                  <a:pt x="110" y="24"/>
                  <a:pt x="110" y="24"/>
                </a:cubicBezTo>
                <a:lnTo>
                  <a:pt x="111" y="25"/>
                </a:lnTo>
                <a:close/>
                <a:moveTo>
                  <a:pt x="68" y="5"/>
                </a:moveTo>
                <a:cubicBezTo>
                  <a:pt x="70" y="5"/>
                  <a:pt x="70" y="5"/>
                  <a:pt x="70" y="5"/>
                </a:cubicBezTo>
                <a:cubicBezTo>
                  <a:pt x="72" y="5"/>
                  <a:pt x="75" y="5"/>
                  <a:pt x="77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68" y="17"/>
                  <a:pt x="68" y="17"/>
                  <a:pt x="68" y="17"/>
                </a:cubicBezTo>
                <a:lnTo>
                  <a:pt x="68" y="5"/>
                </a:lnTo>
                <a:close/>
                <a:moveTo>
                  <a:pt x="68" y="24"/>
                </a:moveTo>
                <a:cubicBezTo>
                  <a:pt x="85" y="8"/>
                  <a:pt x="85" y="8"/>
                  <a:pt x="85" y="8"/>
                </a:cubicBezTo>
                <a:cubicBezTo>
                  <a:pt x="85" y="8"/>
                  <a:pt x="85" y="8"/>
                  <a:pt x="85" y="8"/>
                </a:cubicBezTo>
                <a:cubicBezTo>
                  <a:pt x="88" y="9"/>
                  <a:pt x="91" y="10"/>
                  <a:pt x="93" y="11"/>
                </a:cubicBezTo>
                <a:cubicBezTo>
                  <a:pt x="95" y="12"/>
                  <a:pt x="95" y="12"/>
                  <a:pt x="95" y="12"/>
                </a:cubicBezTo>
                <a:cubicBezTo>
                  <a:pt x="68" y="38"/>
                  <a:pt x="68" y="38"/>
                  <a:pt x="68" y="38"/>
                </a:cubicBezTo>
                <a:lnTo>
                  <a:pt x="68" y="24"/>
                </a:lnTo>
                <a:close/>
                <a:moveTo>
                  <a:pt x="68" y="45"/>
                </a:moveTo>
                <a:cubicBezTo>
                  <a:pt x="99" y="14"/>
                  <a:pt x="99" y="14"/>
                  <a:pt x="99" y="14"/>
                </a:cubicBezTo>
                <a:cubicBezTo>
                  <a:pt x="100" y="15"/>
                  <a:pt x="100" y="15"/>
                  <a:pt x="100" y="15"/>
                </a:cubicBezTo>
                <a:cubicBezTo>
                  <a:pt x="102" y="17"/>
                  <a:pt x="104" y="18"/>
                  <a:pt x="106" y="20"/>
                </a:cubicBezTo>
                <a:cubicBezTo>
                  <a:pt x="107" y="21"/>
                  <a:pt x="107" y="21"/>
                  <a:pt x="107" y="21"/>
                </a:cubicBezTo>
                <a:cubicBezTo>
                  <a:pt x="68" y="59"/>
                  <a:pt x="68" y="59"/>
                  <a:pt x="68" y="59"/>
                </a:cubicBezTo>
                <a:lnTo>
                  <a:pt x="68" y="45"/>
                </a:lnTo>
                <a:close/>
                <a:moveTo>
                  <a:pt x="115" y="97"/>
                </a:moveTo>
                <a:cubicBezTo>
                  <a:pt x="113" y="100"/>
                  <a:pt x="111" y="104"/>
                  <a:pt x="108" y="106"/>
                </a:cubicBezTo>
                <a:cubicBezTo>
                  <a:pt x="104" y="110"/>
                  <a:pt x="100" y="113"/>
                  <a:pt x="95" y="116"/>
                </a:cubicBezTo>
                <a:cubicBezTo>
                  <a:pt x="86" y="121"/>
                  <a:pt x="76" y="123"/>
                  <a:pt x="66" y="123"/>
                </a:cubicBezTo>
                <a:cubicBezTo>
                  <a:pt x="61" y="123"/>
                  <a:pt x="56" y="123"/>
                  <a:pt x="51" y="121"/>
                </a:cubicBezTo>
                <a:cubicBezTo>
                  <a:pt x="46" y="120"/>
                  <a:pt x="41" y="118"/>
                  <a:pt x="36" y="115"/>
                </a:cubicBezTo>
                <a:cubicBezTo>
                  <a:pt x="29" y="111"/>
                  <a:pt x="23" y="106"/>
                  <a:pt x="19" y="100"/>
                </a:cubicBezTo>
                <a:cubicBezTo>
                  <a:pt x="14" y="94"/>
                  <a:pt x="11" y="87"/>
                  <a:pt x="9" y="79"/>
                </a:cubicBezTo>
                <a:cubicBezTo>
                  <a:pt x="7" y="72"/>
                  <a:pt x="6" y="64"/>
                  <a:pt x="7" y="57"/>
                </a:cubicBezTo>
                <a:cubicBezTo>
                  <a:pt x="8" y="49"/>
                  <a:pt x="11" y="41"/>
                  <a:pt x="15" y="34"/>
                </a:cubicBezTo>
                <a:cubicBezTo>
                  <a:pt x="17" y="30"/>
                  <a:pt x="21" y="25"/>
                  <a:pt x="24" y="22"/>
                </a:cubicBezTo>
                <a:cubicBezTo>
                  <a:pt x="28" y="18"/>
                  <a:pt x="32" y="15"/>
                  <a:pt x="37" y="12"/>
                </a:cubicBezTo>
                <a:cubicBezTo>
                  <a:pt x="44" y="8"/>
                  <a:pt x="53" y="5"/>
                  <a:pt x="62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64"/>
                  <a:pt x="64" y="64"/>
                  <a:pt x="64" y="64"/>
                </a:cubicBezTo>
                <a:cubicBezTo>
                  <a:pt x="64" y="65"/>
                  <a:pt x="64" y="66"/>
                  <a:pt x="65" y="66"/>
                </a:cubicBezTo>
                <a:cubicBezTo>
                  <a:pt x="116" y="96"/>
                  <a:pt x="116" y="96"/>
                  <a:pt x="116" y="96"/>
                </a:cubicBezTo>
                <a:lnTo>
                  <a:pt x="115" y="97"/>
                </a:lnTo>
                <a:close/>
                <a:moveTo>
                  <a:pt x="119" y="92"/>
                </a:moveTo>
                <a:cubicBezTo>
                  <a:pt x="110" y="87"/>
                  <a:pt x="110" y="87"/>
                  <a:pt x="110" y="87"/>
                </a:cubicBezTo>
                <a:cubicBezTo>
                  <a:pt x="125" y="72"/>
                  <a:pt x="125" y="72"/>
                  <a:pt x="125" y="72"/>
                </a:cubicBezTo>
                <a:cubicBezTo>
                  <a:pt x="124" y="77"/>
                  <a:pt x="124" y="77"/>
                  <a:pt x="124" y="77"/>
                </a:cubicBezTo>
                <a:cubicBezTo>
                  <a:pt x="123" y="81"/>
                  <a:pt x="121" y="86"/>
                  <a:pt x="119" y="90"/>
                </a:cubicBezTo>
                <a:lnTo>
                  <a:pt x="119" y="9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9" name="组合 68"/>
          <p:cNvGrpSpPr/>
          <p:nvPr>
            <p:custDataLst>
              <p:tags r:id="rId30"/>
            </p:custDataLst>
          </p:nvPr>
        </p:nvGrpSpPr>
        <p:grpSpPr>
          <a:xfrm>
            <a:off x="5476661" y="3710172"/>
            <a:ext cx="468000" cy="468000"/>
            <a:chOff x="4411663" y="304800"/>
            <a:chExt cx="481013" cy="481013"/>
          </a:xfrm>
          <a:solidFill>
            <a:schemeClr val="accent4"/>
          </a:solidFill>
        </p:grpSpPr>
        <p:sp>
          <p:nvSpPr>
            <p:cNvPr id="70" name="Freeform 228"/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4411663" y="304800"/>
              <a:ext cx="481013" cy="481013"/>
            </a:xfrm>
            <a:custGeom>
              <a:avLst/>
              <a:gdLst>
                <a:gd name="T0" fmla="*/ 64 w 128"/>
                <a:gd name="T1" fmla="*/ 0 h 128"/>
                <a:gd name="T2" fmla="*/ 0 w 128"/>
                <a:gd name="T3" fmla="*/ 64 h 128"/>
                <a:gd name="T4" fmla="*/ 64 w 128"/>
                <a:gd name="T5" fmla="*/ 128 h 128"/>
                <a:gd name="T6" fmla="*/ 128 w 128"/>
                <a:gd name="T7" fmla="*/ 64 h 128"/>
                <a:gd name="T8" fmla="*/ 64 w 128"/>
                <a:gd name="T9" fmla="*/ 0 h 128"/>
                <a:gd name="T10" fmla="*/ 106 w 128"/>
                <a:gd name="T11" fmla="*/ 106 h 128"/>
                <a:gd name="T12" fmla="*/ 87 w 128"/>
                <a:gd name="T13" fmla="*/ 119 h 128"/>
                <a:gd name="T14" fmla="*/ 64 w 128"/>
                <a:gd name="T15" fmla="*/ 123 h 128"/>
                <a:gd name="T16" fmla="*/ 41 w 128"/>
                <a:gd name="T17" fmla="*/ 119 h 128"/>
                <a:gd name="T18" fmla="*/ 22 w 128"/>
                <a:gd name="T19" fmla="*/ 106 h 128"/>
                <a:gd name="T20" fmla="*/ 9 w 128"/>
                <a:gd name="T21" fmla="*/ 87 h 128"/>
                <a:gd name="T22" fmla="*/ 5 w 128"/>
                <a:gd name="T23" fmla="*/ 64 h 128"/>
                <a:gd name="T24" fmla="*/ 9 w 128"/>
                <a:gd name="T25" fmla="*/ 41 h 128"/>
                <a:gd name="T26" fmla="*/ 22 w 128"/>
                <a:gd name="T27" fmla="*/ 22 h 128"/>
                <a:gd name="T28" fmla="*/ 41 w 128"/>
                <a:gd name="T29" fmla="*/ 9 h 128"/>
                <a:gd name="T30" fmla="*/ 87 w 128"/>
                <a:gd name="T31" fmla="*/ 9 h 128"/>
                <a:gd name="T32" fmla="*/ 106 w 128"/>
                <a:gd name="T33" fmla="*/ 22 h 128"/>
                <a:gd name="T34" fmla="*/ 119 w 128"/>
                <a:gd name="T35" fmla="*/ 41 h 128"/>
                <a:gd name="T36" fmla="*/ 123 w 128"/>
                <a:gd name="T37" fmla="*/ 64 h 128"/>
                <a:gd name="T38" fmla="*/ 119 w 128"/>
                <a:gd name="T39" fmla="*/ 87 h 128"/>
                <a:gd name="T40" fmla="*/ 106 w 128"/>
                <a:gd name="T41" fmla="*/ 10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106" y="106"/>
                  </a:moveTo>
                  <a:cubicBezTo>
                    <a:pt x="101" y="111"/>
                    <a:pt x="94" y="116"/>
                    <a:pt x="87" y="119"/>
                  </a:cubicBezTo>
                  <a:cubicBezTo>
                    <a:pt x="80" y="122"/>
                    <a:pt x="72" y="123"/>
                    <a:pt x="64" y="123"/>
                  </a:cubicBezTo>
                  <a:cubicBezTo>
                    <a:pt x="56" y="123"/>
                    <a:pt x="48" y="122"/>
                    <a:pt x="41" y="119"/>
                  </a:cubicBezTo>
                  <a:cubicBezTo>
                    <a:pt x="34" y="116"/>
                    <a:pt x="27" y="111"/>
                    <a:pt x="22" y="106"/>
                  </a:cubicBezTo>
                  <a:cubicBezTo>
                    <a:pt x="17" y="101"/>
                    <a:pt x="12" y="94"/>
                    <a:pt x="9" y="87"/>
                  </a:cubicBezTo>
                  <a:cubicBezTo>
                    <a:pt x="6" y="80"/>
                    <a:pt x="5" y="72"/>
                    <a:pt x="5" y="64"/>
                  </a:cubicBezTo>
                  <a:cubicBezTo>
                    <a:pt x="5" y="56"/>
                    <a:pt x="6" y="48"/>
                    <a:pt x="9" y="41"/>
                  </a:cubicBezTo>
                  <a:cubicBezTo>
                    <a:pt x="12" y="34"/>
                    <a:pt x="17" y="27"/>
                    <a:pt x="22" y="22"/>
                  </a:cubicBezTo>
                  <a:cubicBezTo>
                    <a:pt x="27" y="17"/>
                    <a:pt x="34" y="12"/>
                    <a:pt x="41" y="9"/>
                  </a:cubicBezTo>
                  <a:cubicBezTo>
                    <a:pt x="56" y="3"/>
                    <a:pt x="72" y="3"/>
                    <a:pt x="87" y="9"/>
                  </a:cubicBezTo>
                  <a:cubicBezTo>
                    <a:pt x="94" y="12"/>
                    <a:pt x="101" y="17"/>
                    <a:pt x="106" y="22"/>
                  </a:cubicBezTo>
                  <a:cubicBezTo>
                    <a:pt x="111" y="27"/>
                    <a:pt x="116" y="34"/>
                    <a:pt x="119" y="41"/>
                  </a:cubicBezTo>
                  <a:cubicBezTo>
                    <a:pt x="122" y="48"/>
                    <a:pt x="123" y="56"/>
                    <a:pt x="123" y="64"/>
                  </a:cubicBezTo>
                  <a:cubicBezTo>
                    <a:pt x="123" y="72"/>
                    <a:pt x="122" y="80"/>
                    <a:pt x="119" y="87"/>
                  </a:cubicBezTo>
                  <a:cubicBezTo>
                    <a:pt x="116" y="94"/>
                    <a:pt x="112" y="101"/>
                    <a:pt x="106" y="10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Oval 229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4637088" y="530225"/>
              <a:ext cx="30163" cy="30163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Freeform 230"/>
            <p:cNvSpPr>
              <a:spLocks noEditPoints="1"/>
            </p:cNvSpPr>
            <p:nvPr>
              <p:custDataLst>
                <p:tags r:id="rId33"/>
              </p:custDataLst>
            </p:nvPr>
          </p:nvSpPr>
          <p:spPr bwMode="auto">
            <a:xfrm>
              <a:off x="4576763" y="381000"/>
              <a:ext cx="150813" cy="330200"/>
            </a:xfrm>
            <a:custGeom>
              <a:avLst/>
              <a:gdLst>
                <a:gd name="T0" fmla="*/ 40 w 40"/>
                <a:gd name="T1" fmla="*/ 43 h 88"/>
                <a:gd name="T2" fmla="*/ 40 w 40"/>
                <a:gd name="T3" fmla="*/ 43 h 88"/>
                <a:gd name="T4" fmla="*/ 22 w 40"/>
                <a:gd name="T5" fmla="*/ 2 h 88"/>
                <a:gd name="T6" fmla="*/ 18 w 40"/>
                <a:gd name="T7" fmla="*/ 2 h 88"/>
                <a:gd name="T8" fmla="*/ 0 w 40"/>
                <a:gd name="T9" fmla="*/ 43 h 88"/>
                <a:gd name="T10" fmla="*/ 0 w 40"/>
                <a:gd name="T11" fmla="*/ 44 h 88"/>
                <a:gd name="T12" fmla="*/ 0 w 40"/>
                <a:gd name="T13" fmla="*/ 45 h 88"/>
                <a:gd name="T14" fmla="*/ 0 w 40"/>
                <a:gd name="T15" fmla="*/ 45 h 88"/>
                <a:gd name="T16" fmla="*/ 18 w 40"/>
                <a:gd name="T17" fmla="*/ 86 h 88"/>
                <a:gd name="T18" fmla="*/ 22 w 40"/>
                <a:gd name="T19" fmla="*/ 86 h 88"/>
                <a:gd name="T20" fmla="*/ 40 w 40"/>
                <a:gd name="T21" fmla="*/ 45 h 88"/>
                <a:gd name="T22" fmla="*/ 40 w 40"/>
                <a:gd name="T23" fmla="*/ 44 h 88"/>
                <a:gd name="T24" fmla="*/ 40 w 40"/>
                <a:gd name="T25" fmla="*/ 44 h 88"/>
                <a:gd name="T26" fmla="*/ 40 w 40"/>
                <a:gd name="T27" fmla="*/ 44 h 88"/>
                <a:gd name="T28" fmla="*/ 40 w 40"/>
                <a:gd name="T29" fmla="*/ 43 h 88"/>
                <a:gd name="T30" fmla="*/ 20 w 40"/>
                <a:gd name="T31" fmla="*/ 80 h 88"/>
                <a:gd name="T32" fmla="*/ 4 w 40"/>
                <a:gd name="T33" fmla="*/ 44 h 88"/>
                <a:gd name="T34" fmla="*/ 20 w 40"/>
                <a:gd name="T35" fmla="*/ 9 h 88"/>
                <a:gd name="T36" fmla="*/ 36 w 40"/>
                <a:gd name="T37" fmla="*/ 44 h 88"/>
                <a:gd name="T38" fmla="*/ 20 w 40"/>
                <a:gd name="T39" fmla="*/ 8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0" h="88">
                  <a:moveTo>
                    <a:pt x="40" y="43"/>
                  </a:moveTo>
                  <a:cubicBezTo>
                    <a:pt x="40" y="43"/>
                    <a:pt x="40" y="43"/>
                    <a:pt x="40" y="43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0"/>
                    <a:pt x="19" y="0"/>
                    <a:pt x="18" y="2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4"/>
                    <a:pt x="0" y="44"/>
                  </a:cubicBezTo>
                  <a:cubicBezTo>
                    <a:pt x="0" y="44"/>
                    <a:pt x="0" y="45"/>
                    <a:pt x="0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9" y="88"/>
                    <a:pt x="21" y="88"/>
                    <a:pt x="22" y="86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0" y="45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3"/>
                    <a:pt x="40" y="43"/>
                  </a:cubicBezTo>
                  <a:close/>
                  <a:moveTo>
                    <a:pt x="20" y="80"/>
                  </a:moveTo>
                  <a:cubicBezTo>
                    <a:pt x="4" y="44"/>
                    <a:pt x="4" y="44"/>
                    <a:pt x="4" y="44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36" y="44"/>
                    <a:pt x="36" y="44"/>
                    <a:pt x="36" y="44"/>
                  </a:cubicBezTo>
                  <a:lnTo>
                    <a:pt x="20" y="8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5" name="文本框 4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3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zh-CN" altLang="en-US" dirty="0"/>
              <a:t>基线模型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217170" y="864000"/>
            <a:ext cx="5400000" cy="800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4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Simple Linear</a:t>
            </a:r>
            <a:endParaRPr lang="en-US" altLang="zh-CN" sz="4000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7170" y="1692000"/>
            <a:ext cx="5400000" cy="32873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在特征矩阵后拼接一列常数项，作为截距。</a:t>
            </a:r>
            <a:endParaRPr lang="zh-CN" altLang="en-US" sz="1800" b="1" dirty="0">
              <a:latin typeface="+mn-ea"/>
              <a:ea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使用 NumPy 的最小二乘法求解线性权重。</a:t>
            </a:r>
            <a:endParaRPr lang="zh-CN" altLang="en-US" sz="1800" b="1" dirty="0">
              <a:latin typeface="+mn-ea"/>
              <a:ea typeface="+mn-ea"/>
              <a:sym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特点：</a:t>
            </a:r>
            <a:endParaRPr lang="zh-CN" altLang="en-US" sz="1800" b="1" dirty="0">
              <a:latin typeface="+mn-ea"/>
              <a:ea typeface="+mn-ea"/>
            </a:endParaRPr>
          </a:p>
          <a:p>
            <a:pPr marL="800100" lvl="1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anose="05000000000000000000" charset="0"/>
              <a:buChar char="p"/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训练速度快。</a:t>
            </a:r>
            <a:endParaRPr lang="zh-CN" altLang="en-US" sz="1800" b="1" dirty="0">
              <a:latin typeface="+mn-ea"/>
              <a:ea typeface="+mn-ea"/>
            </a:endParaRPr>
          </a:p>
          <a:p>
            <a:pPr marL="800100" lvl="1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anose="05000000000000000000" charset="0"/>
              <a:buChar char="p"/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可解释性强。</a:t>
            </a:r>
            <a:endParaRPr lang="zh-CN" altLang="en-US" sz="1800" b="1" dirty="0">
              <a:latin typeface="+mn-ea"/>
              <a:ea typeface="+mn-ea"/>
            </a:endParaRPr>
          </a:p>
          <a:p>
            <a:pPr marL="800100" lvl="1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anose="05000000000000000000" charset="0"/>
              <a:buChar char="p"/>
            </a:pPr>
            <a:r>
              <a:rPr lang="zh-CN" altLang="en-US" sz="1800" b="1" dirty="0">
                <a:latin typeface="+mn-ea"/>
                <a:ea typeface="+mn-ea"/>
              </a:rPr>
              <a:t>但只能拟合线性关系，难以捕捉费用预测中的复杂非线性模式。</a:t>
            </a:r>
            <a:endParaRPr lang="zh-CN" altLang="en-US" sz="1800" b="1" dirty="0">
              <a:latin typeface="+mn-ea"/>
              <a:ea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" y="5149215"/>
            <a:ext cx="5400000" cy="575708"/>
          </a:xfrm>
          <a:prstGeom prst="rect">
            <a:avLst/>
          </a:prstGeom>
        </p:spPr>
      </p:pic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3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30315" y="864000"/>
            <a:ext cx="5400000" cy="800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4000" b="1" spc="300" dirty="0">
                <a:solidFill>
                  <a:srgbClr val="A13F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LightBGM</a:t>
            </a:r>
            <a:endParaRPr lang="en-US" altLang="zh-CN" sz="4000" b="1" spc="300" dirty="0">
              <a:solidFill>
                <a:srgbClr val="A13F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30315" y="1692000"/>
            <a:ext cx="5400000" cy="29273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A13F0B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 xml:space="preserve">将训练数据转为 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 xml:space="preserve">LightGBM 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 xml:space="preserve">的 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Dataset。</a:t>
            </a:r>
            <a:endParaRPr lang="en-US" altLang="zh-CN" sz="1800" b="1" dirty="0">
              <a:latin typeface="+mn-ea"/>
              <a:ea typeface="+mn-ea"/>
              <a:sym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A13F0B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 xml:space="preserve">使用 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 xml:space="preserve">GBDT 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方式进行回归训练。</a:t>
            </a:r>
            <a:endParaRPr lang="zh-CN" altLang="en-US" sz="1800" b="1" dirty="0">
              <a:latin typeface="+mn-ea"/>
              <a:ea typeface="+mn-ea"/>
              <a:sym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A13F0B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特点：</a:t>
            </a:r>
            <a:endParaRPr lang="zh-CN" altLang="en-US" sz="1800" b="1" dirty="0">
              <a:latin typeface="+mn-ea"/>
              <a:ea typeface="+mn-ea"/>
            </a:endParaRPr>
          </a:p>
          <a:p>
            <a:pPr marL="800100" lvl="1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A13F0B"/>
              </a:buClr>
              <a:buSzTx/>
              <a:buFont typeface="Wingdings" panose="05000000000000000000" charset="0"/>
              <a:buChar char="p"/>
            </a:pPr>
            <a:r>
              <a:rPr lang="zh-CN" altLang="en-US" sz="1800" b="1" dirty="0">
                <a:latin typeface="+mn-ea"/>
                <a:ea typeface="+mn-ea"/>
              </a:rPr>
              <a:t>非常适合结构化表格数据。</a:t>
            </a:r>
            <a:endParaRPr lang="zh-CN" altLang="en-US" sz="1800" b="1" dirty="0">
              <a:latin typeface="+mn-ea"/>
              <a:ea typeface="+mn-ea"/>
            </a:endParaRPr>
          </a:p>
          <a:p>
            <a:pPr marL="800100" lvl="1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A13F0B"/>
              </a:buClr>
              <a:buSzTx/>
              <a:buFont typeface="Wingdings" panose="05000000000000000000" charset="0"/>
              <a:buChar char="p"/>
            </a:pPr>
            <a:r>
              <a:rPr lang="zh-CN" altLang="en-US" sz="1800" b="1" dirty="0">
                <a:latin typeface="+mn-ea"/>
                <a:ea typeface="+mn-ea"/>
              </a:rPr>
              <a:t>训练效率高。</a:t>
            </a:r>
            <a:endParaRPr lang="zh-CN" altLang="en-US" sz="1800" b="1" dirty="0">
              <a:latin typeface="+mn-ea"/>
              <a:ea typeface="+mn-ea"/>
            </a:endParaRPr>
          </a:p>
          <a:p>
            <a:pPr marL="800100" lvl="1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A13F0B"/>
              </a:buClr>
              <a:buSzTx/>
              <a:buFont typeface="Wingdings" panose="05000000000000000000" charset="0"/>
              <a:buChar char="p"/>
            </a:pPr>
            <a:r>
              <a:rPr lang="zh-CN" altLang="en-US" sz="1800" b="1" dirty="0">
                <a:latin typeface="+mn-ea"/>
                <a:ea typeface="+mn-ea"/>
              </a:rPr>
              <a:t>能处理复杂非线性关系。</a:t>
            </a:r>
            <a:endParaRPr lang="zh-CN" altLang="en-US" sz="1800" b="1" dirty="0">
              <a:latin typeface="+mn-ea"/>
              <a:ea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315" y="4647565"/>
            <a:ext cx="5400000" cy="1578407"/>
          </a:xfrm>
          <a:prstGeom prst="rect">
            <a:avLst/>
          </a:prstGeom>
        </p:spPr>
      </p:pic>
      <p:cxnSp>
        <p:nvCxnSpPr>
          <p:cNvPr id="47" name="直接连接符 46"/>
          <p:cNvCxnSpPr/>
          <p:nvPr>
            <p:custDataLst>
              <p:tags r:id="rId3"/>
            </p:custDataLst>
          </p:nvPr>
        </p:nvCxnSpPr>
        <p:spPr>
          <a:xfrm>
            <a:off x="6091989" y="1037333"/>
            <a:ext cx="0" cy="50400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zh-CN" altLang="en-US" dirty="0"/>
              <a:t>基线模型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217170" y="864000"/>
            <a:ext cx="5400000" cy="800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4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XGBoost</a:t>
            </a:r>
            <a:endParaRPr lang="en-US" altLang="zh-CN" sz="4000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7170" y="1692000"/>
            <a:ext cx="5400000" cy="29273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 xml:space="preserve">将数据转为 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 xml:space="preserve">XGBoost 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 xml:space="preserve">的 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DMatrix。</a:t>
            </a:r>
            <a:endParaRPr lang="en-US" altLang="zh-CN" sz="1800" b="1" dirty="0">
              <a:latin typeface="+mn-ea"/>
              <a:ea typeface="+mn-ea"/>
              <a:sym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使用平方误差回归目标进行训练。</a:t>
            </a:r>
            <a:endParaRPr lang="zh-CN" altLang="en-US" sz="1800" b="1" dirty="0">
              <a:latin typeface="+mn-ea"/>
              <a:ea typeface="+mn-ea"/>
              <a:sym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特点：</a:t>
            </a:r>
            <a:endParaRPr lang="zh-CN" altLang="en-US" sz="1800" b="1" dirty="0">
              <a:latin typeface="+mn-ea"/>
              <a:ea typeface="+mn-ea"/>
            </a:endParaRPr>
          </a:p>
          <a:p>
            <a:pPr marL="800100" lvl="1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anose="05000000000000000000" charset="0"/>
              <a:buChar char="p"/>
            </a:pPr>
            <a:r>
              <a:rPr lang="zh-CN" altLang="en-US" sz="1800" b="1" dirty="0">
                <a:latin typeface="+mn-ea"/>
                <a:ea typeface="+mn-ea"/>
              </a:rPr>
              <a:t>工业中常用的强基线模型。</a:t>
            </a:r>
            <a:endParaRPr lang="zh-CN" altLang="en-US" sz="1800" b="1" dirty="0">
              <a:latin typeface="+mn-ea"/>
              <a:ea typeface="+mn-ea"/>
            </a:endParaRPr>
          </a:p>
          <a:p>
            <a:pPr marL="800100" lvl="1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anose="05000000000000000000" charset="0"/>
              <a:buChar char="p"/>
            </a:pPr>
            <a:r>
              <a:rPr lang="zh-CN" altLang="en-US" sz="1800" b="1" dirty="0">
                <a:latin typeface="+mn-ea"/>
                <a:ea typeface="+mn-ea"/>
              </a:rPr>
              <a:t>能捕捉复杂非线性关系。</a:t>
            </a:r>
            <a:endParaRPr lang="zh-CN" altLang="en-US" sz="1800" b="1" dirty="0">
              <a:latin typeface="+mn-ea"/>
              <a:ea typeface="+mn-ea"/>
            </a:endParaRPr>
          </a:p>
          <a:p>
            <a:pPr marL="800100" lvl="1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anose="05000000000000000000" charset="0"/>
              <a:buChar char="p"/>
            </a:pPr>
            <a:r>
              <a:rPr lang="zh-CN" altLang="en-US" sz="1800" b="1" dirty="0">
                <a:latin typeface="+mn-ea"/>
                <a:ea typeface="+mn-ea"/>
              </a:rPr>
              <a:t>可通过超参数调优进一步提升。</a:t>
            </a:r>
            <a:endParaRPr lang="zh-CN" altLang="en-US" sz="1800" b="1" dirty="0">
              <a:latin typeface="+mn-ea"/>
              <a:ea typeface="+mn-ea"/>
            </a:endParaRPr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3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30315" y="864000"/>
            <a:ext cx="5400000" cy="800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4000" b="1" spc="300" dirty="0">
                <a:solidFill>
                  <a:srgbClr val="A13F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Random Forest</a:t>
            </a:r>
            <a:endParaRPr lang="en-US" altLang="zh-CN" sz="4000" b="1" spc="300" dirty="0">
              <a:solidFill>
                <a:srgbClr val="A13F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30315" y="1692000"/>
            <a:ext cx="5467350" cy="3801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A13F0B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 xml:space="preserve">调用 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 xml:space="preserve">RandomForestRegressor 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训练多个决策树。</a:t>
            </a:r>
            <a:endParaRPr lang="zh-CN" altLang="en-US" sz="1800" b="1" dirty="0">
              <a:latin typeface="+mn-ea"/>
              <a:ea typeface="+mn-ea"/>
              <a:sym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A13F0B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多棵树分别预测后取平均结果。</a:t>
            </a:r>
            <a:endParaRPr lang="zh-CN" altLang="en-US" sz="1800" b="1" dirty="0">
              <a:latin typeface="+mn-ea"/>
              <a:ea typeface="+mn-ea"/>
              <a:sym typeface="+mn-ea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A13F0B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特点：</a:t>
            </a:r>
            <a:endParaRPr lang="zh-CN" altLang="en-US" sz="1800" b="1" dirty="0">
              <a:latin typeface="+mn-ea"/>
              <a:ea typeface="+mn-ea"/>
            </a:endParaRPr>
          </a:p>
          <a:p>
            <a:pPr marL="800100" lvl="1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A13F0B"/>
              </a:buClr>
              <a:buSzTx/>
              <a:buFont typeface="Wingdings" panose="05000000000000000000" charset="0"/>
              <a:buChar char="p"/>
            </a:pPr>
            <a:r>
              <a:rPr lang="zh-CN" altLang="en-US" sz="1800" b="1" dirty="0">
                <a:latin typeface="+mn-ea"/>
                <a:ea typeface="+mn-ea"/>
              </a:rPr>
              <a:t>能捕捉非线性关系。</a:t>
            </a:r>
            <a:endParaRPr lang="zh-CN" altLang="en-US" sz="1800" b="1" dirty="0">
              <a:latin typeface="+mn-ea"/>
              <a:ea typeface="+mn-ea"/>
            </a:endParaRPr>
          </a:p>
          <a:p>
            <a:pPr marL="800100" lvl="1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A13F0B"/>
              </a:buClr>
              <a:buSzTx/>
              <a:buFont typeface="Wingdings" panose="05000000000000000000" charset="0"/>
              <a:buChar char="p"/>
            </a:pPr>
            <a:r>
              <a:rPr lang="zh-CN" altLang="en-US" sz="1800" b="1" dirty="0">
                <a:latin typeface="+mn-ea"/>
                <a:ea typeface="+mn-ea"/>
              </a:rPr>
              <a:t>对特征尺度不敏感。</a:t>
            </a:r>
            <a:endParaRPr lang="zh-CN" altLang="en-US" sz="1800" b="1" dirty="0">
              <a:latin typeface="+mn-ea"/>
              <a:ea typeface="+mn-ea"/>
            </a:endParaRPr>
          </a:p>
          <a:p>
            <a:pPr marL="800100" lvl="1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A13F0B"/>
              </a:buClr>
              <a:buSzTx/>
              <a:buFont typeface="Wingdings" panose="05000000000000000000" charset="0"/>
              <a:buChar char="p"/>
            </a:pPr>
            <a:r>
              <a:rPr lang="zh-CN" altLang="en-US" sz="1800" b="1" dirty="0">
                <a:latin typeface="+mn-ea"/>
                <a:ea typeface="+mn-ea"/>
              </a:rPr>
              <a:t>对异常值相对稳健。</a:t>
            </a:r>
            <a:endParaRPr lang="zh-CN" altLang="en-US" sz="1800" b="1" dirty="0">
              <a:latin typeface="+mn-ea"/>
              <a:ea typeface="+mn-ea"/>
            </a:endParaRPr>
          </a:p>
          <a:p>
            <a:pPr marL="800100" lvl="1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A13F0B"/>
              </a:buClr>
              <a:buSzTx/>
              <a:buFont typeface="Wingdings" panose="05000000000000000000" charset="0"/>
              <a:buChar char="p"/>
            </a:pPr>
            <a:r>
              <a:rPr lang="zh-CN" altLang="en-US" sz="1800" b="1" dirty="0">
                <a:latin typeface="+mn-ea"/>
                <a:ea typeface="+mn-ea"/>
              </a:rPr>
              <a:t>但训练成本较高。</a:t>
            </a:r>
            <a:endParaRPr lang="zh-CN" altLang="en-US" sz="1800" b="1" dirty="0">
              <a:latin typeface="+mn-ea"/>
              <a:ea typeface="+mn-ea"/>
            </a:endParaRPr>
          </a:p>
        </p:txBody>
      </p:sp>
      <p:cxnSp>
        <p:nvCxnSpPr>
          <p:cNvPr id="47" name="直接连接符 46"/>
          <p:cNvCxnSpPr/>
          <p:nvPr>
            <p:custDataLst>
              <p:tags r:id="rId1"/>
            </p:custDataLst>
          </p:nvPr>
        </p:nvCxnSpPr>
        <p:spPr>
          <a:xfrm>
            <a:off x="6091989" y="1037333"/>
            <a:ext cx="0" cy="50400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315" y="5161280"/>
            <a:ext cx="5400000" cy="118244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" y="4755515"/>
            <a:ext cx="5400000" cy="1993846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dirty="0"/>
              <a:t>进阶方法：</a:t>
            </a:r>
            <a:r>
              <a:rPr lang="zh-CN" altLang="en-US" dirty="0"/>
              <a:t>超参数适配与模型融合</a:t>
            </a:r>
            <a:endParaRPr lang="zh-CN" altLang="en-US" dirty="0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3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85" y="931545"/>
            <a:ext cx="4043680" cy="520763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548505" y="880110"/>
            <a:ext cx="7238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/>
              <a:t>超参数</a:t>
            </a:r>
            <a:r>
              <a:rPr lang="zh-CN" altLang="en-US" b="1"/>
              <a:t>适配：我们通过多轮网格搜索确定了最优参数组合</a:t>
            </a:r>
            <a:endParaRPr lang="zh-CN" altLang="en-US" b="1"/>
          </a:p>
        </p:txBody>
      </p:sp>
      <p:graphicFrame>
        <p:nvGraphicFramePr>
          <p:cNvPr id="16" name="表格 15"/>
          <p:cNvGraphicFramePr/>
          <p:nvPr/>
        </p:nvGraphicFramePr>
        <p:xfrm>
          <a:off x="4726842" y="1304828"/>
          <a:ext cx="7304405" cy="3866515"/>
        </p:xfrm>
        <a:graphic>
          <a:graphicData uri="http://schemas.openxmlformats.org/drawingml/2006/table">
            <a:tbl>
              <a:tblPr firstRow="1" bandRow="1">
                <a:tableStyleId>{2CD60630-E488-4D87-8E62-156206760F31}</a:tableStyleId>
              </a:tblPr>
              <a:tblGrid>
                <a:gridCol w="1990090"/>
                <a:gridCol w="1390015"/>
                <a:gridCol w="1253490"/>
                <a:gridCol w="2670810"/>
              </a:tblGrid>
              <a:tr h="31496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spc="120"/>
                        <a:t>参数</a:t>
                      </a:r>
                      <a:endParaRPr lang="zh-CN" altLang="en-US" sz="1400" b="1" spc="120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spc="120"/>
                        <a:t>原默认值</a:t>
                      </a:r>
                      <a:endParaRPr lang="zh-CN" altLang="en-US" sz="1400" b="1" spc="120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spc="120"/>
                        <a:t>最优值</a:t>
                      </a:r>
                      <a:endParaRPr lang="zh-CN" altLang="en-US" sz="1400" b="1" spc="120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spc="120"/>
                        <a:t>调整方向与原因</a:t>
                      </a:r>
                      <a:endParaRPr lang="zh-CN" altLang="en-US" sz="1400" b="1" spc="120"/>
                    </a:p>
                  </a:txBody>
                  <a:tcPr marL="254000" marR="254000" marT="25400" marB="25400" anchor="ctr" anchorCtr="0"/>
                </a:tc>
              </a:tr>
              <a:tr h="50165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learning_rate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0.03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0.04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 xml:space="preserve">↑ </a:t>
                      </a:r>
                      <a:r>
                        <a:rPr lang="zh-CN" altLang="en-US" sz="1200" b="1"/>
                        <a:t>补偿梯度估计方差增大导致的收敛放缓</a:t>
                      </a:r>
                      <a:endParaRPr lang="zh-CN" altLang="en-US" sz="1200" b="1"/>
                    </a:p>
                  </a:txBody>
                  <a:tcPr marL="254000" marR="254000" marT="25400" marB="25400" anchor="ctr" anchorCtr="0"/>
                </a:tc>
              </a:tr>
              <a:tr h="50165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num_leaves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63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63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/>
                        <a:t>不变，复杂度在数据量下降后刚好合适</a:t>
                      </a:r>
                      <a:endParaRPr lang="zh-CN" altLang="en-US" sz="1200" b="1"/>
                    </a:p>
                  </a:txBody>
                  <a:tcPr marL="254000" marR="254000" marT="25400" marB="25400" anchor="ctr" anchorCtr="0"/>
                </a:tc>
              </a:tr>
              <a:tr h="50165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max_depth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-1</a:t>
                      </a:r>
                      <a:r>
                        <a:rPr lang="zh-CN" altLang="en-US" sz="1200" b="1"/>
                        <a:t>（不限制）</a:t>
                      </a:r>
                      <a:endParaRPr lang="zh-CN" altLang="en-US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7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 xml:space="preserve">↓ </a:t>
                      </a:r>
                      <a:r>
                        <a:rPr lang="zh-CN" altLang="en-US" sz="1200" b="1"/>
                        <a:t xml:space="preserve">显式限制树深度，防止 </a:t>
                      </a:r>
                      <a:r>
                        <a:rPr lang="en-US" altLang="zh-CN" sz="1200" b="1"/>
                        <a:t xml:space="preserve">Leaf-wise </a:t>
                      </a:r>
                      <a:r>
                        <a:rPr lang="zh-CN" altLang="en-US" sz="1200" b="1"/>
                        <a:t>生长过深</a:t>
                      </a:r>
                      <a:endParaRPr lang="zh-CN" altLang="en-US" sz="1200" b="1"/>
                    </a:p>
                  </a:txBody>
                  <a:tcPr marL="254000" marR="254000" marT="25400" marB="25400" anchor="ctr" anchorCtr="0"/>
                </a:tc>
              </a:tr>
              <a:tr h="50165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subsample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0.9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0.85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 xml:space="preserve">↓ </a:t>
                      </a:r>
                      <a:r>
                        <a:rPr lang="zh-CN" altLang="en-US" sz="1200" b="1"/>
                        <a:t xml:space="preserve">增强行采样的随机性，相当于更强的 </a:t>
                      </a:r>
                      <a:r>
                        <a:rPr lang="en-US" altLang="zh-CN" sz="1200" b="1"/>
                        <a:t>Bagging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</a:tr>
              <a:tr h="50228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colsample_bytree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0.95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0.85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 xml:space="preserve">↓ </a:t>
                      </a:r>
                      <a:r>
                        <a:rPr lang="zh-CN" altLang="en-US" sz="1200" b="1"/>
                        <a:t>增强列采样的随机性，降低树间相关性</a:t>
                      </a:r>
                      <a:endParaRPr lang="zh-CN" altLang="en-US" sz="1200" b="1"/>
                    </a:p>
                  </a:txBody>
                  <a:tcPr marL="254000" marR="254000" marT="25400" marB="25400" anchor="ctr" anchorCtr="0"/>
                </a:tc>
              </a:tr>
              <a:tr h="27686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reg_alpha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0.5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0.5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/>
                        <a:t>不变</a:t>
                      </a:r>
                      <a:endParaRPr lang="zh-CN" altLang="en-US" sz="1200" b="1"/>
                    </a:p>
                  </a:txBody>
                  <a:tcPr marL="254000" marR="254000" marT="25400" marB="25400" anchor="ctr" anchorCtr="0"/>
                </a:tc>
              </a:tr>
              <a:tr h="27686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reg_lambda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0.05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0.2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 xml:space="preserve">↑ L2 </a:t>
                      </a:r>
                      <a:r>
                        <a:rPr lang="zh-CN" altLang="en-US" sz="1200" b="1"/>
                        <a:t>正则增强，抑制叶权重过大</a:t>
                      </a:r>
                      <a:endParaRPr lang="zh-CN" altLang="en-US" sz="1200" b="1"/>
                    </a:p>
                  </a:txBody>
                  <a:tcPr marL="254000" marR="254000" marT="25400" marB="25400" anchor="ctr" anchorCtr="0"/>
                </a:tc>
              </a:tr>
              <a:tr h="27686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min_child_samples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30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>20</a:t>
                      </a:r>
                      <a:endParaRPr lang="en-US" altLang="zh-CN" sz="1200" b="1"/>
                    </a:p>
                  </a:txBody>
                  <a:tcPr marL="254000" marR="254000" marT="25400" marB="254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/>
                        <a:t xml:space="preserve">↓ </a:t>
                      </a:r>
                      <a:r>
                        <a:rPr lang="zh-CN" altLang="en-US" sz="1200" b="1"/>
                        <a:t>允许更精细的分裂</a:t>
                      </a:r>
                      <a:endParaRPr lang="zh-CN" altLang="en-US" sz="1200" b="1"/>
                    </a:p>
                  </a:txBody>
                  <a:tcPr marL="254000" marR="254000" marT="25400" marB="25400" anchor="ctr" anchorCtr="0"/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4548505" y="5255260"/>
            <a:ext cx="6344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>
                <a:latin typeface="微软雅黑" panose="020B0503020204020204" pitchFamily="34" charset="-122"/>
                <a:cs typeface="微软雅黑" panose="020B0503020204020204" pitchFamily="34" charset="-122"/>
              </a:rPr>
              <a:t>异质模型融合：</a:t>
            </a:r>
            <a:r>
              <a:rPr lang="en-US" altLang="zh-CN" b="1">
                <a:latin typeface="微软雅黑" panose="020B0503020204020204" pitchFamily="34" charset="-122"/>
                <a:cs typeface="微软雅黑" panose="020B0503020204020204" pitchFamily="34" charset="-122"/>
              </a:rPr>
              <a:t>LightGBM</a:t>
            </a:r>
            <a:r>
              <a:rPr lang="zh-CN" altLang="en-US" b="1"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b="1">
                <a:latin typeface="微软雅黑" panose="020B0503020204020204" pitchFamily="34" charset="-122"/>
                <a:cs typeface="微软雅黑" panose="020B0503020204020204" pitchFamily="34" charset="-122"/>
              </a:rPr>
              <a:t>Random Forest</a:t>
            </a:r>
            <a:r>
              <a:rPr lang="zh-CN" altLang="en-US" b="1">
                <a:latin typeface="微软雅黑" panose="020B0503020204020204" pitchFamily="34" charset="-122"/>
                <a:cs typeface="微软雅黑" panose="020B0503020204020204" pitchFamily="34" charset="-122"/>
              </a:rPr>
              <a:t>模型融合</a:t>
            </a:r>
            <a:endParaRPr lang="zh-CN" altLang="en-US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4227544" y="4283909"/>
            <a:ext cx="3660158" cy="782043"/>
            <a:chOff x="5181690" y="2820871"/>
            <a:chExt cx="2578318" cy="550893"/>
          </a:xfrm>
        </p:grpSpPr>
        <p:sp>
          <p:nvSpPr>
            <p:cNvPr id="4" name="椭圆 3"/>
            <p:cNvSpPr/>
            <p:nvPr/>
          </p:nvSpPr>
          <p:spPr>
            <a:xfrm>
              <a:off x="5181690" y="2820871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dirty="0">
                  <a:latin typeface="Century Gothic" panose="020B0502020202020204" pitchFamily="34" charset="0"/>
                </a:rPr>
                <a:t>4</a:t>
              </a:r>
              <a:endParaRPr lang="en-US" altLang="zh-CN" sz="4400" dirty="0">
                <a:latin typeface="Century Gothic" panose="020B0502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988604" y="2888229"/>
              <a:ext cx="1771404" cy="3900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3600" b="1" spc="300" dirty="0">
                  <a:latin typeface="+mj-ea"/>
                  <a:ea typeface="+mj-ea"/>
                </a:rPr>
                <a:t>实验结果</a:t>
              </a:r>
              <a:endParaRPr lang="zh-CN" altLang="en-US" sz="3600" b="1" spc="300" dirty="0"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dirty="0"/>
              <a:t>对比</a:t>
            </a:r>
            <a:r>
              <a:rPr dirty="0"/>
              <a:t>实验</a:t>
            </a:r>
            <a:endParaRPr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4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6600190" y="1532890"/>
          <a:ext cx="5446395" cy="3303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685"/>
                <a:gridCol w="1633855"/>
                <a:gridCol w="1633855"/>
              </a:tblGrid>
              <a:tr h="5505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Baseline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RMSE↓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R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5505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Simple Linear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2.6077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0.9897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5505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LightBGM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2.0798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0.9935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5505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XGBoost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3.9751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0.9762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5505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Random Forest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2.0778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0.9935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5505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Core Model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1.9596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0.9942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2825"/>
            <a:ext cx="6413500" cy="28505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05" y="3905250"/>
            <a:ext cx="5998845" cy="238252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dirty="0"/>
              <a:t>消融实验</a:t>
            </a:r>
            <a:endParaRPr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4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315" y="1554480"/>
            <a:ext cx="5207635" cy="33051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710" y="1613535"/>
            <a:ext cx="5305425" cy="335724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dirty="0"/>
              <a:t>失败案例</a:t>
            </a:r>
            <a:r>
              <a:rPr lang="en-US" altLang="zh-CN" dirty="0"/>
              <a:t>—</a:t>
            </a:r>
            <a:r>
              <a:rPr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特征过多导致过拟合</a:t>
            </a:r>
            <a:endParaRPr lang="en-US" altLang="zh-CN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4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5430" y="1723390"/>
            <a:ext cx="1144841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742950" lvl="1" indent="-285750">
              <a:buFont typeface="Wingdings" panose="05000000000000000000" charset="0"/>
              <a:buChar char="Ø"/>
            </a:pP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现象：使用包含 `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 xml:space="preserve">route` 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 xml:space="preserve">列 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 xml:space="preserve">One-hot 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 xml:space="preserve">编码的完整增强特征集（20,115 维）训练 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LightGBM，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 xml:space="preserve">验证集 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RMSE=3.84，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 xml:space="preserve">但测试集 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RMSE=2.10，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两者之间存在显著差距。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诊断：验证集误差与测试集误差之间的差距（1.74）是典型的过拟合信号——模型在训练/验证分布上表现尚可，但泛化到测试集时性能大幅下降。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原因分析：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 xml:space="preserve">`route` 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列由上车区域和下车区域的编号拼接而成（如 "132_247"），原始取值有数千种。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 xml:space="preserve">One-hot 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 xml:space="preserve">编码后产生数万列，其中绝大多数列在训练集中只出现极少次数。在 100,000 个训练样本的约束下，这些稀疏列无法被有效学习，反而成为噪声通道——模型可能恰好"记住"了某个 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 xml:space="preserve">route 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在训练集中的对应费用，但这个对应关系在测试集中不成立。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lvl="0" indent="0">
              <a:buFont typeface="Wingdings" panose="05000000000000000000" charset="0"/>
              <a:buNone/>
            </a:pPr>
            <a:endParaRPr lang="en-US" altLang="zh-CN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dirty="0"/>
              <a:t>演示</a:t>
            </a:r>
            <a:r>
              <a:rPr dirty="0"/>
              <a:t>视频</a:t>
            </a:r>
            <a:endParaRPr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5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pic>
        <p:nvPicPr>
          <p:cNvPr id="2" name="ChiikDD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74040" y="880110"/>
            <a:ext cx="10175875" cy="534924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4227544" y="4283909"/>
            <a:ext cx="3660158" cy="782043"/>
            <a:chOff x="5181690" y="2820871"/>
            <a:chExt cx="2578318" cy="550893"/>
          </a:xfrm>
        </p:grpSpPr>
        <p:sp>
          <p:nvSpPr>
            <p:cNvPr id="4" name="椭圆 3"/>
            <p:cNvSpPr/>
            <p:nvPr/>
          </p:nvSpPr>
          <p:spPr>
            <a:xfrm>
              <a:off x="5181690" y="2820871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dirty="0">
                  <a:latin typeface="Century Gothic" panose="020B0502020202020204" pitchFamily="34" charset="0"/>
                </a:rPr>
                <a:t>5</a:t>
              </a:r>
              <a:endParaRPr lang="en-US" altLang="zh-CN" sz="4400" dirty="0">
                <a:latin typeface="Century Gothic" panose="020B0502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988604" y="2888229"/>
              <a:ext cx="1771404" cy="3900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3600" b="1" spc="300" dirty="0">
                  <a:latin typeface="+mj-ea"/>
                  <a:ea typeface="+mj-ea"/>
                </a:rPr>
                <a:t>项目</a:t>
              </a:r>
              <a:r>
                <a:rPr lang="zh-CN" altLang="en-US" sz="3600" b="1" spc="300" dirty="0">
                  <a:latin typeface="+mj-ea"/>
                  <a:ea typeface="+mj-ea"/>
                </a:rPr>
                <a:t>总结</a:t>
              </a:r>
              <a:endParaRPr lang="zh-CN" altLang="en-US" sz="3600" b="1" spc="300" dirty="0"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dirty="0"/>
              <a:t>项目</a:t>
            </a:r>
            <a:r>
              <a:rPr dirty="0"/>
              <a:t>总结</a:t>
            </a:r>
            <a:endParaRPr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5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7505" y="1779270"/>
            <a:ext cx="1120076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主要贡献：通过超参调优和模型融合相较于最优基线提升了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5.7%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局限性：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时间维度单一：仅使用 2026 年 3 月一个月数据，未捕捉季节性波动（旺季/淡季）、节假日效应和长期趋势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 dirty="0"/>
              <a:t>模型多样性不足：仅探索树模型（两种集成范式），未测试深度表格模型（TabNet、FT-Transformer 等）</a:t>
            </a:r>
            <a:endParaRPr lang="zh-CN" altLang="en-US" sz="1400" dirty="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未来工作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多时间窗口建模：引入多月/全年数据，加入月份、季节、节假日特征，探索时序模型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 dirty="0"/>
              <a:t>深度表格模型探索：在更大数据规模下测试 TabNet、FT-Transformer、MLP 等模型架构</a:t>
            </a:r>
            <a:endParaRPr lang="zh-CN" altLang="en-US" sz="1400" dirty="0"/>
          </a:p>
        </p:txBody>
      </p:sp>
    </p:spTree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zh-CN" altLang="en-US" dirty="0"/>
              <a:t>开题目标 vs 当前完成度</a:t>
            </a:r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回顾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350000" y="950000"/>
          <a:ext cx="11500000" cy="5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/>
                <a:gridCol w="1700000"/>
                <a:gridCol w="2000000"/>
                <a:gridCol w="5200000"/>
              </a:tblGrid>
              <a:tr h="42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 sz="1400"/>
                        <a:t>开题目标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 sz="1400"/>
                        <a:t>完成状态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 sz="1300"/>
                        <a:t>关键指标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 sz="1400"/>
                        <a:t>说明与未完成原因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6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FHVHV平台适配</a:t>
                      </a:r>
                      <a:br/>
                      <a:r>
                        <a:rPr lang="zh-CN" altLang="en-US" sz="1100"/>
                        <a:t>(Yellow Taxi→FHVHV)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✅ 完成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RMSE=1.9596</a:t>
                      </a:r>
                      <a:br/>
                      <a:r>
                        <a:rPr lang="zh-CN" altLang="en-US" sz="1000"/>
                        <a:t>(目标&lt;2.00)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目标字段从total_amount改为base_passenger_fare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6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数据质量全量审计</a:t>
                      </a:r>
                      <a:br/>
                      <a:r>
                        <a:rPr lang="zh-CN" altLang="en-US" sz="1100"/>
                        <a:t>(四维诊断)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✅ 完成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22,058,358行全量</a:t>
                      </a:r>
                      <a:br/>
                      <a:r>
                        <a:rPr lang="zh-CN" altLang="en-US" sz="1000"/>
                        <a:t>缺失率/噪声/漂移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data_audit.py 输出量化审计报告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6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数据治理管道</a:t>
                      </a:r>
                      <a:br/>
                      <a:r>
                        <a:rPr lang="zh-CN" altLang="en-US" sz="1100"/>
                        <a:t>(分层补全+缩尾)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✅ 完成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治理标记可追踪</a:t>
                      </a:r>
                      <a:br/>
                      <a:r>
                        <a:rPr lang="zh-CN" altLang="en-US" sz="1000"/>
                        <a:t>A/B对照实验完成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governance_v2.py;</a:t>
                      </a:r>
                      <a:br/>
                      <a:r>
                        <a:rPr lang="zh-CN" altLang="en-US" sz="900"/>
                        <a:t>治理价值在可审计性而非短期精度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6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基线模型参照系</a:t>
                      </a:r>
                      <a:br/>
                      <a:r>
                        <a:rPr lang="zh-CN" altLang="en-US" sz="1100"/>
                        <a:t>(4种方法)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✅ 完成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RF/LGB/Linear/XGB</a:t>
                      </a:r>
                      <a:br/>
                      <a:r>
                        <a:rPr lang="zh-CN" altLang="en-US" sz="1000"/>
                        <a:t>最优基线RMSE=2.078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统一61维特征输入;</a:t>
                      </a:r>
                      <a:br/>
                      <a:r>
                        <a:rPr lang="zh-CN" altLang="en-US" sz="900"/>
                        <a:t>建立公平对比基准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6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核心方法：</a:t>
                      </a:r>
                      <a:br/>
                      <a:r>
                        <a:rPr lang="zh-CN" altLang="en-US" sz="1100"/>
                        <a:t>LGB调参+RF融合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✅ 完成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最终RMSE=1.9596</a:t>
                      </a:r>
                      <a:br/>
                      <a:r>
                        <a:rPr lang="zh-CN" altLang="en-US" sz="1000"/>
                        <a:t>R²=0.9942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80+组配置搜索;</a:t>
                      </a:r>
                      <a:br/>
                      <a:r>
                        <a:rPr lang="zh-CN" altLang="en-US" sz="900"/>
                        <a:t>Leave-One-Out消融量化贡献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6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模型可解释性</a:t>
                      </a:r>
                      <a:br/>
                      <a:r>
                        <a:rPr lang="zh-CN" altLang="en-US" sz="1100"/>
                        <a:t>(SHAP特征归因)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✅ 完成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Gain/Split/SHAP</a:t>
                      </a:r>
                      <a:br/>
                      <a:r>
                        <a:rPr lang="zh-CN" altLang="en-US" sz="1000"/>
                        <a:t>4张重要性图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plot_feature_importance.py;</a:t>
                      </a:r>
                      <a:br/>
                      <a:r>
                        <a:rPr lang="zh-CN" altLang="en-US" sz="900"/>
                        <a:t>回应开题可解释性承诺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6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深度模型探索</a:t>
                      </a:r>
                      <a:br/>
                      <a:r>
                        <a:rPr lang="zh-CN" altLang="en-US" sz="1100"/>
                        <a:t>(TabNet/MLP)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#E67E22"/>
                          </a:solidFill>
                        </a:rPr>
                        <a:t>⚠️ 未完成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rgbClr val="#E67E22"/>
                          </a:solidFill>
                        </a:rPr>
                        <a:t>未测试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>
                          <a:solidFill>
                            <a:srgbClr val="#E67E22"/>
                          </a:solidFill>
                        </a:rPr>
                        <a:t>树模型已接近性能上界;</a:t>
                      </a:r>
                      <a:br/>
                      <a:r>
                        <a:rPr lang="zh-CN" altLang="en-US" sz="900">
                          <a:solidFill>
                            <a:srgbClr val="#E67E22"/>
                          </a:solidFill>
                        </a:rPr>
                        <a:t>10万数据不支撑深度模型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6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多时间窗口建模</a:t>
                      </a:r>
                      <a:br/>
                      <a:r>
                        <a:rPr lang="zh-CN" altLang="en-US" sz="1100"/>
                        <a:t>(多月/跨年)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#E67E22"/>
                          </a:solidFill>
                        </a:rPr>
                        <a:t>⚠️ 未完成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rgbClr val="#E67E22"/>
                          </a:solidFill>
                        </a:rPr>
                        <a:t>仅2026-03单月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>
                          <a:solidFill>
                            <a:srgbClr val="#E67E22"/>
                          </a:solidFill>
                        </a:rPr>
                        <a:t>需多月数据验证季节性;</a:t>
                      </a:r>
                      <a:br/>
                      <a:r>
                        <a:rPr lang="zh-CN" altLang="en-US" sz="900">
                          <a:solidFill>
                            <a:srgbClr val="#E67E22"/>
                          </a:solidFill>
                        </a:rPr>
                        <a:t>时间限制+数据获取成本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6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Stacking融合</a:t>
                      </a:r>
                      <a:br/>
                      <a:r>
                        <a:rPr lang="zh-CN" altLang="en-US" sz="1100"/>
                        <a:t>(二级元模型)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#E67E22"/>
                          </a:solidFill>
                        </a:rPr>
                        <a:t>⚠️ 未完成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rgbClr val="#E67E22"/>
                          </a:solidFill>
                        </a:rPr>
                        <a:t>仅简单加权平均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>
                          <a:solidFill>
                            <a:srgbClr val="#E67E22"/>
                          </a:solidFill>
                        </a:rPr>
                        <a:t>一级模型预测高度相关;</a:t>
                      </a:r>
                      <a:br/>
                      <a:r>
                        <a:rPr lang="zh-CN" altLang="en-US" sz="900">
                          <a:solidFill>
                            <a:srgbClr val="#E67E22"/>
                          </a:solidFill>
                        </a:rPr>
                        <a:t>Stacking边际收益预期有限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6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在线推理部署</a:t>
                      </a:r>
                      <a:br/>
                      <a:r>
                        <a:rPr lang="zh-CN" altLang="en-US" sz="1100"/>
                        <a:t>(API服务)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#E67E22"/>
                          </a:solidFill>
                        </a:rPr>
                        <a:t>⚠️ 未完成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rgbClr val="#E67E22"/>
                          </a:solidFill>
                        </a:rPr>
                        <a:t>纯离线实验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>
                          <a:solidFill>
                            <a:srgbClr val="#E67E22"/>
                          </a:solidFill>
                        </a:rPr>
                        <a:t>超出课程范围;</a:t>
                      </a:r>
                      <a:br/>
                      <a:r>
                        <a:rPr lang="zh-CN" altLang="en-US" sz="900">
                          <a:solidFill>
                            <a:srgbClr val="#E67E22"/>
                          </a:solidFill>
                        </a:rPr>
                        <a:t>需ONNX序列化+REST封装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ransition spd="med">
    <p:pull/>
  </p:transition>
</p:sld>
</file>

<file path=ppt/tags/tag1.xml><?xml version="1.0" encoding="utf-8"?>
<p:tagLst xmlns:p="http://schemas.openxmlformats.org/presentationml/2006/main">
  <p:tag name="PA" val="v5.1.2"/>
</p:tagLst>
</file>

<file path=ppt/tags/tag2.xml><?xml version="1.0" encoding="utf-8"?>
<p:tagLst xmlns:p="http://schemas.openxmlformats.org/presentationml/2006/main">
  <p:tag name="PA" val="v5.1.2"/>
</p:tagLst>
</file>

<file path=ppt/tags/tag3.xml><?xml version="1.0" encoding="utf-8"?>
<p:tagLst xmlns:p="http://schemas.openxmlformats.org/presentationml/2006/main">
  <p:tag name="PA" val="v5.1.2"/>
</p:tagLst>
</file>

<file path=ppt/tags/tag4.xml><?xml version="1.0" encoding="utf-8"?>
<p:tagLst xmlns:p="http://schemas.openxmlformats.org/presentationml/2006/main">
  <p:tag name="PA" val="v5.1.2"/>
</p:tagLst>
</file>

<file path=ppt/tags/tag5.xml><?xml version="1.0" encoding="utf-8"?>
<p:tagLst xmlns:p="http://schemas.openxmlformats.org/presentationml/2006/main">
  <p:tag name="PA" val="v5.1.2"/>
</p:tagLst>
</file>

<file path=ppt/tags/tag6.xml><?xml version="1.0" encoding="utf-8"?>
<p:tagLst xmlns:p="http://schemas.openxmlformats.org/presentationml/2006/main">
  <p:tag name="PA" val="v5.1.2"/>
</p:tagLst>
</file>

<file path=ppt/tags/tag7.xml><?xml version="1.0" encoding="utf-8"?>
<p:tagLst xmlns:p="http://schemas.openxmlformats.org/presentationml/2006/main">
  <p:tag name="PA" val="v5.1.2"/>
</p:tagLst>
</file>

<file path=ppt/tags/tag8.xml><?xml version="1.0" encoding="utf-8"?>
<p:tagLst xmlns:p="http://schemas.openxmlformats.org/presentationml/2006/main">
  <p:tag name="PA" val="v5.1.2"/>
</p:tagLst>
</file>

<file path=ppt/tags/tag9.xml><?xml version="1.0" encoding="utf-8"?>
<p:tagLst xmlns:p="http://schemas.openxmlformats.org/presentationml/2006/main">
  <p:tag name="PA" val="v5.1.2"/>
</p:tagLst>
</file>

<file path=ppt/tags/tag10.xml><?xml version="1.0" encoding="utf-8"?>
<p:tagLst xmlns:p="http://schemas.openxmlformats.org/presentationml/2006/main">
  <p:tag name="KSO_WM_DIAGRAM_VIRTUALLY_FRAME" val="{&quot;height&quot;:251.34605108744182,&quot;left&quot;:480.1875590551181,&quot;top&quot;:238.5048818897638,&quot;width&quot;:460.9113385826771}"/>
</p:tagLst>
</file>

<file path=ppt/tags/tag11.xml><?xml version="1.0" encoding="utf-8"?>
<p:tagLst xmlns:p="http://schemas.openxmlformats.org/presentationml/2006/main">
  <p:tag name="KSO_WM_DIAGRAM_VIRTUALLY_FRAME" val="{&quot;height&quot;:251.34605108744182,&quot;left&quot;:480.1875590551181,&quot;top&quot;:238.5048818897638,&quot;width&quot;:460.9113385826771}"/>
</p:tagLst>
</file>

<file path=ppt/tags/tag12.xml><?xml version="1.0" encoding="utf-8"?>
<p:tagLst xmlns:p="http://schemas.openxmlformats.org/presentationml/2006/main">
  <p:tag name="KSO_WM_DIAGRAM_VIRTUALLY_FRAME" val="{&quot;height&quot;:251.34605108744182,&quot;left&quot;:480.1875590551181,&quot;top&quot;:238.5048818897638,&quot;width&quot;:460.9113385826771}"/>
</p:tagLst>
</file>

<file path=ppt/tags/tag13.xml><?xml version="1.0" encoding="utf-8"?>
<p:tagLst xmlns:p="http://schemas.openxmlformats.org/presentationml/2006/main">
  <p:tag name="KSO_WM_DIAGRAM_VIRTUALLY_FRAME" val="{&quot;height&quot;:251.34605108744182,&quot;left&quot;:480.1875590551181,&quot;top&quot;:238.5048818897638,&quot;width&quot;:460.9113385826771}"/>
</p:tagLst>
</file>

<file path=ppt/tags/tag14.xml><?xml version="1.0" encoding="utf-8"?>
<p:tagLst xmlns:p="http://schemas.openxmlformats.org/presentationml/2006/main">
  <p:tag name="KSO_WM_DIAGRAM_VIRTUALLY_FRAME" val="{&quot;height&quot;:251.34605108744182,&quot;left&quot;:480.1875590551181,&quot;top&quot;:238.5048818897638,&quot;width&quot;:460.9113385826771}"/>
</p:tagLst>
</file>

<file path=ppt/tags/tag15.xml><?xml version="1.0" encoding="utf-8"?>
<p:tagLst xmlns:p="http://schemas.openxmlformats.org/presentationml/2006/main">
  <p:tag name="KSO_WM_DIAGRAM_VIRTUALLY_FRAME" val="{&quot;height&quot;:251.34605108744182,&quot;left&quot;:480.1875590551181,&quot;top&quot;:238.5048818897638,&quot;width&quot;:460.9113385826771}"/>
</p:tagLst>
</file>

<file path=ppt/tags/tag16.xml><?xml version="1.0" encoding="utf-8"?>
<p:tagLst xmlns:p="http://schemas.openxmlformats.org/presentationml/2006/main">
  <p:tag name="KSO_WM_DIAGRAM_VIRTUALLY_FRAME" val="{&quot;height&quot;:251.34605108744182,&quot;left&quot;:480.1875590551181,&quot;top&quot;:238.5048818897638,&quot;width&quot;:460.9113385826771}"/>
</p:tagLst>
</file>

<file path=ppt/tags/tag17.xml><?xml version="1.0" encoding="utf-8"?>
<p:tagLst xmlns:p="http://schemas.openxmlformats.org/presentationml/2006/main">
  <p:tag name="KSO_WM_DIAGRAM_VIRTUALLY_FRAME" val="{&quot;height&quot;:251.34605108744182,&quot;left&quot;:480.1875590551181,&quot;top&quot;:238.5048818897638,&quot;width&quot;:460.9113385826771}"/>
</p:tagLst>
</file>

<file path=ppt/tags/tag18.xml><?xml version="1.0" encoding="utf-8"?>
<p:tagLst xmlns:p="http://schemas.openxmlformats.org/presentationml/2006/main">
  <p:tag name="KSO_WM_DIAGRAM_VIRTUALLY_FRAME" val="{&quot;height&quot;:251.34605108744182,&quot;left&quot;:480.1875590551181,&quot;top&quot;:238.5048818897638,&quot;width&quot;:460.9113385826771}"/>
</p:tagLst>
</file>

<file path=ppt/tags/tag19.xml><?xml version="1.0" encoding="utf-8"?>
<p:tagLst xmlns:p="http://schemas.openxmlformats.org/presentationml/2006/main">
  <p:tag name="KSO_WM_DIAGRAM_VIRTUALLY_FRAME" val="{&quot;height&quot;:251.34605108744182,&quot;left&quot;:480.1875590551181,&quot;top&quot;:238.5048818897638,&quot;width&quot;:460.9113385826771}"/>
</p:tagLst>
</file>

<file path=ppt/tags/tag20.xml><?xml version="1.0" encoding="utf-8"?>
<p:tagLst xmlns:p="http://schemas.openxmlformats.org/presentationml/2006/main">
  <p:tag name="KSO_WM_DIAGRAM_VIRTUALLY_FRAME" val="{&quot;height&quot;:251.34605108744182,&quot;left&quot;:480.1875590551181,&quot;top&quot;:238.5048818897638,&quot;width&quot;:460.9113385826771}"/>
</p:tagLst>
</file>

<file path=ppt/tags/tag21.xml><?xml version="1.0" encoding="utf-8"?>
<p:tagLst xmlns:p="http://schemas.openxmlformats.org/presentationml/2006/main">
  <p:tag name="KSO_WM_DIAGRAM_VIRTUALLY_FRAME" val="{&quot;height&quot;:251.34605108744182,&quot;left&quot;:480.1875590551181,&quot;top&quot;:238.5048818897638,&quot;width&quot;:460.9113385826771}"/>
</p:tagLst>
</file>

<file path=ppt/tags/tag22.xml><?xml version="1.0" encoding="utf-8"?>
<p:tagLst xmlns:p="http://schemas.openxmlformats.org/presentationml/2006/main">
  <p:tag name="KSO_WM_DIAGRAM_VIRTUALLY_FRAME" val="{&quot;height&quot;:251.34605108744182,&quot;left&quot;:480.1875590551181,&quot;top&quot;:238.5048818897638,&quot;width&quot;:460.9113385826771}"/>
</p:tagLst>
</file>

<file path=ppt/tags/tag23.xml><?xml version="1.0" encoding="utf-8"?>
<p:tagLst xmlns:p="http://schemas.openxmlformats.org/presentationml/2006/main">
  <p:tag name="KSO_WM_DIAGRAM_VIRTUALLY_FRAME" val="{&quot;height&quot;:251.34605108744182,&quot;left&quot;:480.1875590551181,&quot;top&quot;:238.5048818897638,&quot;width&quot;:460.9113385826771}"/>
</p:tagLst>
</file>

<file path=ppt/tags/tag24.xml><?xml version="1.0" encoding="utf-8"?>
<p:tagLst xmlns:p="http://schemas.openxmlformats.org/presentationml/2006/main">
  <p:tag name="KSO_WM_DIAGRAM_VIRTUALLY_FRAME" val="{&quot;height&quot;:251.34605108744182,&quot;left&quot;:480.1875590551181,&quot;top&quot;:238.5048818897638,&quot;width&quot;:460.9113385826771}"/>
</p:tagLst>
</file>

<file path=ppt/tags/tag25.xml><?xml version="1.0" encoding="utf-8"?>
<p:tagLst xmlns:p="http://schemas.openxmlformats.org/presentationml/2006/main">
  <p:tag name="KSO_WM_DIAGRAM_VIRTUALLY_FRAME" val="{&quot;height&quot;:276.9247244094488,&quot;left&quot;:52,&quot;top&quot;:191.08409448818898,&quot;width&quot;:855.9999212598425}"/>
</p:tagLst>
</file>

<file path=ppt/tags/tag26.xml><?xml version="1.0" encoding="utf-8"?>
<p:tagLst xmlns:p="http://schemas.openxmlformats.org/presentationml/2006/main">
  <p:tag name="KSO_WM_DIAGRAM_VIRTUALLY_FRAME" val="{&quot;height&quot;:276.9247244094488,&quot;left&quot;:52,&quot;top&quot;:191.08409448818898,&quot;width&quot;:855.9999212598425}"/>
</p:tagLst>
</file>

<file path=ppt/tags/tag27.xml><?xml version="1.0" encoding="utf-8"?>
<p:tagLst xmlns:p="http://schemas.openxmlformats.org/presentationml/2006/main">
  <p:tag name="KSO_WM_DIAGRAM_VIRTUALLY_FRAME" val="{&quot;height&quot;:276.9247244094488,&quot;left&quot;:52,&quot;top&quot;:191.08409448818898,&quot;width&quot;:855.9999212598425}"/>
</p:tagLst>
</file>

<file path=ppt/tags/tag28.xml><?xml version="1.0" encoding="utf-8"?>
<p:tagLst xmlns:p="http://schemas.openxmlformats.org/presentationml/2006/main">
  <p:tag name="KSO_WM_DIAGRAM_VIRTUALLY_FRAME" val="{&quot;height&quot;:276.9247244094488,&quot;left&quot;:52,&quot;top&quot;:191.08409448818898,&quot;width&quot;:855.9999212598425}"/>
</p:tagLst>
</file>

<file path=ppt/tags/tag29.xml><?xml version="1.0" encoding="utf-8"?>
<p:tagLst xmlns:p="http://schemas.openxmlformats.org/presentationml/2006/main">
  <p:tag name="KSO_WM_DIAGRAM_VIRTUALLY_FRAME" val="{&quot;height&quot;:276.9247244094488,&quot;left&quot;:52,&quot;top&quot;:191.08409448818898,&quot;width&quot;:855.9999212598425}"/>
</p:tagLst>
</file>

<file path=ppt/tags/tag30.xml><?xml version="1.0" encoding="utf-8"?>
<p:tagLst xmlns:p="http://schemas.openxmlformats.org/presentationml/2006/main">
  <p:tag name="KSO_WM_DIAGRAM_VIRTUALLY_FRAME" val="{&quot;height&quot;:276.9247244094488,&quot;left&quot;:52,&quot;top&quot;:191.08409448818898,&quot;width&quot;:855.9999212598425}"/>
</p:tagLst>
</file>

<file path=ppt/tags/tag31.xml><?xml version="1.0" encoding="utf-8"?>
<p:tagLst xmlns:p="http://schemas.openxmlformats.org/presentationml/2006/main">
  <p:tag name="KSO_WM_DIAGRAM_VIRTUALLY_FRAME" val="{&quot;height&quot;:276.9247244094488,&quot;left&quot;:52,&quot;top&quot;:191.08409448818898,&quot;width&quot;:855.9999212598425}"/>
</p:tagLst>
</file>

<file path=ppt/tags/tag32.xml><?xml version="1.0" encoding="utf-8"?>
<p:tagLst xmlns:p="http://schemas.openxmlformats.org/presentationml/2006/main">
  <p:tag name="KSO_WM_DIAGRAM_VIRTUALLY_FRAME" val="{&quot;height&quot;:276.9247244094488,&quot;left&quot;:52,&quot;top&quot;:191.08409448818898,&quot;width&quot;:855.9999212598425}"/>
</p:tagLst>
</file>

<file path=ppt/tags/tag33.xml><?xml version="1.0" encoding="utf-8"?>
<p:tagLst xmlns:p="http://schemas.openxmlformats.org/presentationml/2006/main">
  <p:tag name="KSO_WM_DIAGRAM_VIRTUALLY_FRAME" val="{&quot;height&quot;:270.7142519685039,&quot;left&quot;:52,&quot;top&quot;:191.08409448818898,&quot;width&quot;:855.9999212598425}"/>
</p:tagLst>
</file>

<file path=ppt/tags/tag34.xml><?xml version="1.0" encoding="utf-8"?>
<p:tagLst xmlns:p="http://schemas.openxmlformats.org/presentationml/2006/main">
  <p:tag name="KSO_WM_DIAGRAM_VIRTUALLY_FRAME" val="{&quot;height&quot;:276.9247244094488,&quot;left&quot;:52,&quot;top&quot;:191.08409448818898,&quot;width&quot;:855.9999212598425}"/>
</p:tagLst>
</file>

<file path=ppt/tags/tag35.xml><?xml version="1.0" encoding="utf-8"?>
<p:tagLst xmlns:p="http://schemas.openxmlformats.org/presentationml/2006/main">
  <p:tag name="KSO_WM_DIAGRAM_VIRTUALLY_FRAME" val="{&quot;height&quot;:276.9247244094488,&quot;left&quot;:52,&quot;top&quot;:191.08409448818898,&quot;width&quot;:855.9999212598425}"/>
</p:tagLst>
</file>

<file path=ppt/tags/tag36.xml><?xml version="1.0" encoding="utf-8"?>
<p:tagLst xmlns:p="http://schemas.openxmlformats.org/presentationml/2006/main">
  <p:tag name="KSO_WM_DIAGRAM_VIRTUALLY_FRAME" val="{&quot;height&quot;:276.9247244094488,&quot;left&quot;:52,&quot;top&quot;:191.08409448818898,&quot;width&quot;:855.9999212598425}"/>
</p:tagLst>
</file>

<file path=ppt/tags/tag37.xml><?xml version="1.0" encoding="utf-8"?>
<p:tagLst xmlns:p="http://schemas.openxmlformats.org/presentationml/2006/main">
  <p:tag name="KSO_WM_DIAGRAM_VIRTUALLY_FRAME" val="{&quot;height&quot;:276.9247244094488,&quot;left&quot;:52,&quot;top&quot;:191.08409448818898,&quot;width&quot;:855.9999212598425}"/>
</p:tagLst>
</file>

<file path=ppt/tags/tag38.xml><?xml version="1.0" encoding="utf-8"?>
<p:tagLst xmlns:p="http://schemas.openxmlformats.org/presentationml/2006/main">
  <p:tag name="KSO_WM_DIAGRAM_VIRTUALLY_FRAME" val="{&quot;height&quot;:270.7142519685039,&quot;left&quot;:52,&quot;top&quot;:191.08409448818898,&quot;width&quot;:855.9999212598425}"/>
</p:tagLst>
</file>

<file path=ppt/tags/tag39.xml><?xml version="1.0" encoding="utf-8"?>
<p:tagLst xmlns:p="http://schemas.openxmlformats.org/presentationml/2006/main">
  <p:tag name="KSO_WM_DIAGRAM_VIRTUALLY_FRAME" val="{&quot;height&quot;:276.9247244094488,&quot;left&quot;:52,&quot;top&quot;:191.08409448818898,&quot;width&quot;:855.9999212598425}"/>
</p:tagLst>
</file>

<file path=ppt/tags/tag40.xml><?xml version="1.0" encoding="utf-8"?>
<p:tagLst xmlns:p="http://schemas.openxmlformats.org/presentationml/2006/main">
  <p:tag name="KSO_WM_DIAGRAM_VIRTUALLY_FRAME" val="{&quot;height&quot;:276.9247244094488,&quot;left&quot;:52,&quot;top&quot;:191.08409448818898,&quot;width&quot;:855.9999212598425}"/>
</p:tagLst>
</file>

<file path=ppt/tags/tag41.xml><?xml version="1.0" encoding="utf-8"?>
<p:tagLst xmlns:p="http://schemas.openxmlformats.org/presentationml/2006/main">
  <p:tag name="KSO_WM_DIAGRAM_VIRTUALLY_FRAME" val="{&quot;height&quot;:337.4748031496063,&quot;left&quot;:51.999921259842516,&quot;top&quot;:113.3607874015748,&quot;width&quot;:857.1600787401576}"/>
</p:tagLst>
</file>

<file path=ppt/tags/tag42.xml><?xml version="1.0" encoding="utf-8"?>
<p:tagLst xmlns:p="http://schemas.openxmlformats.org/presentationml/2006/main">
  <p:tag name="KSO_WM_DIAGRAM_VIRTUALLY_FRAME" val="{&quot;height&quot;:337.4748031496063,&quot;left&quot;:51.999921259842516,&quot;top&quot;:113.3607874015748,&quot;width&quot;:857.1600787401576}"/>
</p:tagLst>
</file>

<file path=ppt/tags/tag43.xml><?xml version="1.0" encoding="utf-8"?>
<p:tagLst xmlns:p="http://schemas.openxmlformats.org/presentationml/2006/main">
  <p:tag name="KSO_WM_DIAGRAM_VIRTUALLY_FRAME" val="{&quot;height&quot;:337.4748031496063,&quot;left&quot;:51.999921259842516,&quot;top&quot;:113.3607874015748,&quot;width&quot;:857.1600787401576}"/>
</p:tagLst>
</file>

<file path=ppt/tags/tag44.xml><?xml version="1.0" encoding="utf-8"?>
<p:tagLst xmlns:p="http://schemas.openxmlformats.org/presentationml/2006/main">
  <p:tag name="KSO_WM_DIAGRAM_VIRTUALLY_FRAME" val="{&quot;height&quot;:337.4748031496063,&quot;left&quot;:51.999921259842516,&quot;top&quot;:113.3607874015748,&quot;width&quot;:857.1600787401576}"/>
</p:tagLst>
</file>

<file path=ppt/tags/tag45.xml><?xml version="1.0" encoding="utf-8"?>
<p:tagLst xmlns:p="http://schemas.openxmlformats.org/presentationml/2006/main">
  <p:tag name="KSO_WM_DIAGRAM_VIRTUALLY_FRAME" val="{&quot;height&quot;:337.4748031496063,&quot;left&quot;:51.999921259842516,&quot;top&quot;:113.3607874015748,&quot;width&quot;:857.1600787401576}"/>
</p:tagLst>
</file>

<file path=ppt/tags/tag46.xml><?xml version="1.0" encoding="utf-8"?>
<p:tagLst xmlns:p="http://schemas.openxmlformats.org/presentationml/2006/main">
  <p:tag name="KSO_WM_DIAGRAM_VIRTUALLY_FRAME" val="{&quot;height&quot;:337.4748031496063,&quot;left&quot;:51.999921259842516,&quot;top&quot;:113.3607874015748,&quot;width&quot;:857.1600787401576}"/>
</p:tagLst>
</file>

<file path=ppt/tags/tag47.xml><?xml version="1.0" encoding="utf-8"?>
<p:tagLst xmlns:p="http://schemas.openxmlformats.org/presentationml/2006/main">
  <p:tag name="KSO_WM_DIAGRAM_VIRTUALLY_FRAME" val="{&quot;height&quot;:337.4748031496063,&quot;left&quot;:51.999921259842516,&quot;top&quot;:113.3607874015748,&quot;width&quot;:857.1600787401576}"/>
</p:tagLst>
</file>

<file path=ppt/tags/tag48.xml><?xml version="1.0" encoding="utf-8"?>
<p:tagLst xmlns:p="http://schemas.openxmlformats.org/presentationml/2006/main">
  <p:tag name="TABLE_ENDDRAG_ORIGIN_RECT" val="847*144"/>
  <p:tag name="TABLE_ENDDRAG_RECT" val="52*332*847*144"/>
</p:tagLst>
</file>

<file path=ppt/tags/tag49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50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51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52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53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54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55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56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57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58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59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60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61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62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63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64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65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66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67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68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69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70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71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72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73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74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75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76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77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78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79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80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81.xml><?xml version="1.0" encoding="utf-8"?>
<p:tagLst xmlns:p="http://schemas.openxmlformats.org/presentationml/2006/main">
  <p:tag name="KSO_WM_DIAGRAM_VIRTUALLY_FRAME" val="{&quot;height&quot;:379.32062992125987,&quot;left&quot;:65.34251968503938,&quot;top&quot;:97.34015748031496,&quot;width&quot;:830.543149606299}"/>
</p:tagLst>
</file>

<file path=ppt/tags/tag82.xml><?xml version="1.0" encoding="utf-8"?>
<p:tagLst xmlns:p="http://schemas.openxmlformats.org/presentationml/2006/main">
  <p:tag name="KSO_WM_DIAGRAM_VIRTUALLY_FRAME" val="{&quot;height&quot;:352.56803149606304,&quot;left&quot;:53.453307086614174,&quot;top&quot;:107.02976377952754,&quot;width&quot;:864.4318897637795}"/>
</p:tagLst>
</file>

<file path=ppt/tags/tag83.xml><?xml version="1.0" encoding="utf-8"?>
<p:tagLst xmlns:p="http://schemas.openxmlformats.org/presentationml/2006/main">
  <p:tag name="KSO_WM_DIAGRAM_VIRTUALLY_FRAME" val="{&quot;height&quot;:352.56803149606304,&quot;left&quot;:53.453307086614174,&quot;top&quot;:107.02976377952754,&quot;width&quot;:864.4318897637795}"/>
</p:tagLst>
</file>

<file path=ppt/tags/tag84.xml><?xml version="1.0" encoding="utf-8"?>
<p:tagLst xmlns:p="http://schemas.openxmlformats.org/presentationml/2006/main">
  <p:tag name="TABLE_ENDDRAG_ORIGIN_RECT" val="428*267"/>
  <p:tag name="TABLE_ENDDRAG_RECT" val="459*80*428*267"/>
</p:tagLst>
</file>

<file path=ppt/tags/tag85.xml><?xml version="1.0" encoding="utf-8"?>
<p:tagLst xmlns:p="http://schemas.openxmlformats.org/presentationml/2006/main">
  <p:tag name="COMMONDATA" val="eyJoZGlkIjoiNWE4NDkyOWMwMGM1OTFmZThmYWQwZGMwNGI5MjUyMjIifQ=="/>
  <p:tag name="commondata" val="eyJoZGlkIjoiNjEzM2VmZGQyNzljNGEzNWIzZGMzNDY5NDFjNDA4YTEifQ=="/>
</p:tagLst>
</file>

<file path=ppt/theme/theme1.xml><?xml version="1.0" encoding="utf-8"?>
<a:theme xmlns:a="http://schemas.openxmlformats.org/drawingml/2006/main" name="封1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2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封3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封4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封5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封6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封7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封8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封9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目1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目2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目3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目4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目5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目6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目7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目8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_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3028</Words>
  <Application>WPS 演示</Application>
  <PresentationFormat>宽屏</PresentationFormat>
  <Paragraphs>452</Paragraphs>
  <Slides>21</Slides>
  <Notes>98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21</vt:i4>
      </vt:variant>
    </vt:vector>
  </HeadingPairs>
  <TitlesOfParts>
    <vt:vector size="50" baseType="lpstr">
      <vt:lpstr>Arial</vt:lpstr>
      <vt:lpstr>宋体</vt:lpstr>
      <vt:lpstr>Wingdings</vt:lpstr>
      <vt:lpstr>Century Gothic</vt:lpstr>
      <vt:lpstr>微软雅黑</vt:lpstr>
      <vt:lpstr>微软雅黑 Light</vt:lpstr>
      <vt:lpstr>Wingdings 3</vt:lpstr>
      <vt:lpstr>Arial</vt:lpstr>
      <vt:lpstr>Wingdings</vt:lpstr>
      <vt:lpstr>黑体</vt:lpstr>
      <vt:lpstr>Arial Unicode MS</vt:lpstr>
      <vt:lpstr>封1​​</vt:lpstr>
      <vt:lpstr>封2​​</vt:lpstr>
      <vt:lpstr>封3​​</vt:lpstr>
      <vt:lpstr>封4​​</vt:lpstr>
      <vt:lpstr>封5​​</vt:lpstr>
      <vt:lpstr>封6​​</vt:lpstr>
      <vt:lpstr>封7​​</vt:lpstr>
      <vt:lpstr>封8​​</vt:lpstr>
      <vt:lpstr>封9​​</vt:lpstr>
      <vt:lpstr>目1​​</vt:lpstr>
      <vt:lpstr>目2​​</vt:lpstr>
      <vt:lpstr>目3​​</vt:lpstr>
      <vt:lpstr>目4​​</vt:lpstr>
      <vt:lpstr>目5​​</vt:lpstr>
      <vt:lpstr>目6​​</vt:lpstr>
      <vt:lpstr>目7​​</vt:lpstr>
      <vt:lpstr>目8​​</vt:lpstr>
      <vt:lpstr>1_内页​​</vt:lpstr>
      <vt:lpstr>PowerPoint 演示文稿</vt:lpstr>
      <vt:lpstr>PowerPoint 演示文稿</vt:lpstr>
      <vt:lpstr>PowerPoint 演示文稿</vt:lpstr>
      <vt:lpstr>问题背景</vt:lpstr>
      <vt:lpstr>PowerPoint 演示文稿</vt:lpstr>
      <vt:lpstr>数据来源与规模</vt:lpstr>
      <vt:lpstr>核心挑战与数据审计</vt:lpstr>
      <vt:lpstr>数据治理</vt:lpstr>
      <vt:lpstr>数据治理</vt:lpstr>
      <vt:lpstr>PowerPoint 演示文稿</vt:lpstr>
      <vt:lpstr>统一预处理</vt:lpstr>
      <vt:lpstr>基线模型</vt:lpstr>
      <vt:lpstr>基线模型</vt:lpstr>
      <vt:lpstr>进阶方法：超参数适配与模型融合</vt:lpstr>
      <vt:lpstr>PowerPoint 演示文稿</vt:lpstr>
      <vt:lpstr>对比实验</vt:lpstr>
      <vt:lpstr>消融实验</vt:lpstr>
      <vt:lpstr>失败案例—特征过多导致过拟合</vt:lpstr>
      <vt:lpstr>失败案例—特征过多导致过拟合</vt:lpstr>
      <vt:lpstr>PowerPoint 演示文稿</vt:lpstr>
      <vt:lpstr>项目总结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韩宇</dc:creator>
  <cp:lastModifiedBy>Roxy_Xu</cp:lastModifiedBy>
  <cp:revision>772</cp:revision>
  <dcterms:created xsi:type="dcterms:W3CDTF">2016-11-28T11:30:00Z</dcterms:created>
  <dcterms:modified xsi:type="dcterms:W3CDTF">2026-06-14T12:07:13Z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2019-04-12T06:42:33.4777185Z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f2877715-b2cf-4189-b763-9fb10023ee09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7FEADF550F9F4A1F8E9138C811CE63F5_13</vt:lpwstr>
  </property>
  <property fmtid="{D5CDD505-2E9C-101B-9397-08002B2CF9AE}" pid="12" name="KSOProductBuildVer">
    <vt:lpwstr>2052-12.1.0.26895</vt:lpwstr>
  </property>
</Properties>
</file>